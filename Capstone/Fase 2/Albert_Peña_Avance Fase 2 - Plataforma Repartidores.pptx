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8200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s. Me presento: soy Albert Peña, trabajo solo en este proyecto y cumplo todos los roles. La docente es Claudia Reinoso, sección CAPSTONE_300D. El código completo vive en un solo repositorio (monorepo con backend y frontend). Reemplazar el texto entre corchetes por la URL real del sitio.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45 s. Resumen en ambos idiomas (102 palabras en español, 91 en inglés). No hace falta leerlo completo: basta con el problema (cálculo manual), la solución (cálculo automático y panel de administración) y el estado (seis de ocho etapas completas).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Una sola slide de contexto. Mi papá es repartidor y lleva sus cuentas a mano; de ahí nace el problema. El objetivo es automatizar el desglose financiero. Dos usuarios: repartidor y administrador. El MVP ya cubre el registro, el panel y los roles; falta la exportación de reportes.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Recibí seis observaciones de la docente, todas de retroalimentación docente. Recorrer la tabla fila por fila: qué se observó, qué cambié y por qué. Lo más importante: ahora la metodología está nombrada (cascada) y tiene instancias de control, y los hitos están formulados como estados alcanzados.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Metodología en cascada, o desarrollo por etapas: ocho etapas secuenciales entre el 28 de agosto y el 28 de noviembre. Las barras grises son el plan y el color es el avance real: las etapas 1 a 6 están completas, la 7 va en 30 % y la 8 en 25 %. La línea punteada es hoy, 14 de octubre. A la derecha están las tres instancias de control que respondieron la observación de la docente.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Estados según la guía 2.4: Completado y En curso. No hay actividades con retraso ni ajustadas, por eso no hay causas de retraso que explicar. Las etapas 4, 5 y 6 se terminaron antes de la fecha planificada. La última columna es la tabla de hitos que pidió la docente, formulada como estados alcanzados.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Recorrer el diagrama de izquierda a derecha: el usuario entra por la interfaz React publicada en Cloudflare, que llama a la API REST con Axios y un token JWT; la API usa Prisma con el adaptador de PostgreSQL. Ser transparente: el backend y la base de datos corren en mi computador y no uso Docker. Por eso la demo en vivo depende del servidor local.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Es el modelo ya implementado en PostgreSQL con Prisma, no solo diseñado: un usuario tiene como máximo un perfil de repartidor y un repartidor tiene muchas transacciones. La tabla de transacciones guarda el desglose del cálculo (monto líquido, IVA, paquetes fallidos, descuento de combustible). Hay 10 migraciones versionadas y un seed que crea la cuenta administradora.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2,5 min. Se terminaron 14 de los 15 requerimientos del alcance (93 %); falta exportar reportes. Hacer la demo en vivo de 2 minutos siguiendo los cuatro pasos del recuadro; tener un video de respaldo por si el servidor local falla. Recordar encender el backend y PostgreSQL antes de presentar.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45 s. Artefactos según la metodología del Anexo del instructivo: visión del proyecto, reglas de negocio, backlog, documento de diseño, README y plan de pruebas. Cuatro están disponibles, el backlog está parcial y el plan de pruebas queda comprometido para la semana 15. Ajustar los nombres si el Anexo los llama distinto.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Ser honesto sobre el estado: las pruebas hechas son funcionales (7 de 7 aprobadas) y las pruebas unitarias automatizadas están pendientes. Hay convención de código, linter configurado y commits con prefijos. Lo que falta mejorar es la estrategia de ramas y pull requests.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45 s. Un solo repositorio (monorepo) con las carpetas backend y frontend más el README en la raíz. Hay 13 commits en la rama main con prefijos de tipo (feat, fix, style). Verificar antes de presentar que el repositorio no incluya archivos sensibles ni dependencias, y ajustar esta slide al Anexo 2 si pide otros elementos del README.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Soy el único contribuidor, con el 100 % de los 13 commits, y estoy a cargo de todos los módulos. Completar el dato de issues cerrados (marcado entre corchetes) con lo que muestre GitHub antes de presentar. Si se empiezan a usar ramas y pull requests, actualizar esta tabla.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45 s. Los tres riesgos principales con su mitigación: trabajo individual, errores en los cálculos financieros y dependencia del equipo local con un único usuario de validación. Abajo, lo que me comprometo a entregar para la semana 15.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Borrador de dos ideas en inglés para que las digas tú; ajústalas con tus palabras. Idea 1: convertir un problema real en reglas de negocio precisas antes de programar. Idea 2: las pruebas automatizadas de los cálculos son la prioridad, porque el ingreso del repartidor depende de que cada número sea correcto.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Dejar esta slide visible durante las preguntas. Reemplazar el texto entre corchetes por tu correo de contacto.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4171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737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EDE9E0"/>
                </a:solidFill>
                <a:latin typeface="Oswald" pitchFamily="34" charset="0"/>
                <a:ea typeface="Oswald" pitchFamily="34" charset="-122"/>
                <a:cs typeface="Oswald"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625501"/>
            <a:ext cx="10566400" cy="4419699"/>
          </a:xfrm>
          <a:prstGeom prst="rect">
            <a:avLst/>
          </a:prstGeom>
          <a:noFill/>
          <a:ln/>
        </p:spPr>
        <p:txBody>
          <a:bodyPr wrap="square" lIns="0" tIns="0" rIns="0" bIns="0" rtlCol="0" anchor="t"/>
          <a:lstStyle>
            <a:lvl1pPr marL="0" indent="0" algn="l">
              <a:lnSpc>
                <a:spcPct val="140000"/>
              </a:lnSpc>
              <a:buNone/>
              <a:defRPr lang="en-US" sz="1600" dirty="0">
                <a:solidFill>
                  <a:srgbClr val="EDE9E0"/>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4171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737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EDE9E0"/>
                </a:solidFill>
                <a:latin typeface="Oswald" pitchFamily="34" charset="0"/>
                <a:ea typeface="Oswald" pitchFamily="34" charset="-122"/>
                <a:cs typeface="Oswald"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625501"/>
            <a:ext cx="10566400" cy="4419699"/>
          </a:xfrm>
          <a:prstGeom prst="rect">
            <a:avLst/>
          </a:prstGeom>
          <a:noFill/>
          <a:ln/>
        </p:spPr>
        <p:txBody>
          <a:bodyPr wrap="square" lIns="0" tIns="0" rIns="0" bIns="0" rtlCol="0" anchor="t"/>
          <a:lstStyle>
            <a:lvl1pPr marL="0" indent="0" algn="l">
              <a:lnSpc>
                <a:spcPct val="140000"/>
              </a:lnSpc>
              <a:buNone/>
              <a:defRPr lang="en-US" sz="1600" dirty="0">
                <a:solidFill>
                  <a:srgbClr val="EDE9E0"/>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5A524"/>
                </a:solidFill>
                <a:latin typeface="IBM Plex Sans" pitchFamily="34" charset="0"/>
                <a:ea typeface="IBM Plex Sans" pitchFamily="34" charset="-122"/>
                <a:cs typeface="IBM Plex Sans" pitchFamily="34" charset="-120"/>
              </a:rPr>
              <a:t>PROYECTO DE TÍTULO · CAPSTONE · AVANCE FASE 2</a:t>
            </a:r>
            <a:endParaRPr lang="en-US" sz="1200" dirty="0"/>
          </a:p>
        </p:txBody>
      </p:sp>
      <p:sp>
        <p:nvSpPr>
          <p:cNvPr id="3" name="Shape 1"/>
          <p:cNvSpPr/>
          <p:nvPr/>
        </p:nvSpPr>
        <p:spPr>
          <a:xfrm>
            <a:off x="812800" y="1026120"/>
            <a:ext cx="1016000" cy="50800"/>
          </a:xfrm>
          <a:prstGeom prst="rect">
            <a:avLst/>
          </a:prstGeom>
          <a:solidFill>
            <a:srgbClr val="F5A524"/>
          </a:solidFill>
          <a:ln/>
        </p:spPr>
      </p:sp>
      <p:sp>
        <p:nvSpPr>
          <p:cNvPr id="4" name="Text 2"/>
          <p:cNvSpPr>
            <a:spLocks noGrp="1"/>
          </p:cNvSpPr>
          <p:nvPr>
            <p:ph type="title"/>
          </p:nvPr>
        </p:nvSpPr>
        <p:spPr>
          <a:xfrm>
            <a:off x="812800" y="1280120"/>
            <a:ext cx="10883392" cy="1254720"/>
          </a:xfrm>
          <a:prstGeom prst="rect">
            <a:avLst/>
          </a:prstGeom>
          <a:noFill/>
          <a:ln/>
        </p:spPr>
        <p:txBody>
          <a:bodyPr wrap="square" lIns="0" tIns="0" rIns="0" bIns="0" rtlCol="0" anchor="t">
            <a:normAutofit/>
          </a:bodyPr>
          <a:lstStyle/>
          <a:p>
            <a:pPr marL="0" indent="0" algn="l">
              <a:lnSpc>
                <a:spcPts val="4840"/>
              </a:lnSpc>
              <a:buNone/>
            </a:pPr>
            <a:r>
              <a:rPr lang="en-US" sz="4400" b="1" i="0" dirty="0">
                <a:solidFill>
                  <a:srgbClr val="EDE9E0"/>
                </a:solidFill>
                <a:latin typeface="Oswald" pitchFamily="34" charset="0"/>
                <a:ea typeface="Oswald" pitchFamily="34" charset="-122"/>
                <a:cs typeface="Oswald" pitchFamily="34" charset="-120"/>
              </a:rPr>
              <a:t>Plataforma web de gestión financiera y control operativo para repartidores de última milla</a:t>
            </a:r>
            <a:endParaRPr lang="en-US" sz="4400" dirty="0"/>
          </a:p>
        </p:txBody>
      </p:sp>
      <p:sp>
        <p:nvSpPr>
          <p:cNvPr id="5" name="Shape 3"/>
          <p:cNvSpPr/>
          <p:nvPr/>
        </p:nvSpPr>
        <p:spPr>
          <a:xfrm>
            <a:off x="815975" y="4791273"/>
            <a:ext cx="3380284" cy="1453952"/>
          </a:xfrm>
          <a:prstGeom prst="roundRect">
            <a:avLst>
              <a:gd name="adj" fmla="val 6769"/>
            </a:avLst>
          </a:prstGeom>
          <a:solidFill>
            <a:srgbClr val="1E242C"/>
          </a:solidFill>
          <a:ln w="6350">
            <a:solidFill>
              <a:srgbClr val="2C333D"/>
            </a:solidFill>
            <a:prstDash val="solid"/>
          </a:ln>
        </p:spPr>
      </p:sp>
      <p:sp>
        <p:nvSpPr>
          <p:cNvPr id="6" name="Text 4"/>
          <p:cNvSpPr/>
          <p:nvPr/>
        </p:nvSpPr>
        <p:spPr>
          <a:xfrm>
            <a:off x="1022350" y="4997648"/>
            <a:ext cx="305656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A524"/>
                </a:solidFill>
                <a:latin typeface="IBM Plex Sans" pitchFamily="34" charset="0"/>
                <a:ea typeface="IBM Plex Sans" pitchFamily="34" charset="-122"/>
                <a:cs typeface="IBM Plex Sans" pitchFamily="34" charset="-120"/>
              </a:rPr>
              <a:t>INTEGRANTE</a:t>
            </a:r>
            <a:endParaRPr lang="en-US" sz="1200" dirty="0"/>
          </a:p>
        </p:txBody>
      </p:sp>
      <p:sp>
        <p:nvSpPr>
          <p:cNvPr id="7" name="Text 5"/>
          <p:cNvSpPr/>
          <p:nvPr/>
        </p:nvSpPr>
        <p:spPr>
          <a:xfrm>
            <a:off x="1022350" y="5287169"/>
            <a:ext cx="305656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DE9E0"/>
                </a:solidFill>
                <a:latin typeface="IBM Plex Sans" pitchFamily="34" charset="0"/>
                <a:ea typeface="IBM Plex Sans" pitchFamily="34" charset="-122"/>
                <a:cs typeface="IBM Plex Sans" pitchFamily="34" charset="-120"/>
              </a:rPr>
              <a:t>Albert Peña</a:t>
            </a:r>
            <a:endParaRPr lang="en-US" sz="1400" dirty="0"/>
          </a:p>
        </p:txBody>
      </p:sp>
      <p:sp>
        <p:nvSpPr>
          <p:cNvPr id="8" name="Text 6"/>
          <p:cNvSpPr/>
          <p:nvPr/>
        </p:nvSpPr>
        <p:spPr>
          <a:xfrm>
            <a:off x="1022350" y="5612209"/>
            <a:ext cx="30565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Rol único: analista, diseñador, desarrollador full-stack y QA</a:t>
            </a:r>
            <a:endParaRPr lang="en-US" sz="1200" dirty="0"/>
          </a:p>
        </p:txBody>
      </p:sp>
      <p:sp>
        <p:nvSpPr>
          <p:cNvPr id="9" name="Shape 7"/>
          <p:cNvSpPr/>
          <p:nvPr/>
        </p:nvSpPr>
        <p:spPr>
          <a:xfrm>
            <a:off x="4405809" y="4791273"/>
            <a:ext cx="3380284" cy="1453952"/>
          </a:xfrm>
          <a:prstGeom prst="roundRect">
            <a:avLst>
              <a:gd name="adj" fmla="val 6769"/>
            </a:avLst>
          </a:prstGeom>
          <a:solidFill>
            <a:srgbClr val="1E242C"/>
          </a:solidFill>
          <a:ln w="6350">
            <a:solidFill>
              <a:srgbClr val="2C333D"/>
            </a:solidFill>
            <a:prstDash val="solid"/>
          </a:ln>
        </p:spPr>
      </p:sp>
      <p:sp>
        <p:nvSpPr>
          <p:cNvPr id="10" name="Text 8"/>
          <p:cNvSpPr/>
          <p:nvPr/>
        </p:nvSpPr>
        <p:spPr>
          <a:xfrm>
            <a:off x="4612184" y="4997648"/>
            <a:ext cx="305656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A524"/>
                </a:solidFill>
                <a:latin typeface="IBM Plex Sans" pitchFamily="34" charset="0"/>
                <a:ea typeface="IBM Plex Sans" pitchFamily="34" charset="-122"/>
                <a:cs typeface="IBM Plex Sans" pitchFamily="34" charset="-120"/>
              </a:rPr>
              <a:t>SECCIÓN Y DOCENTE</a:t>
            </a:r>
            <a:endParaRPr lang="en-US" sz="1200" dirty="0"/>
          </a:p>
        </p:txBody>
      </p:sp>
      <p:sp>
        <p:nvSpPr>
          <p:cNvPr id="11" name="Text 9"/>
          <p:cNvSpPr/>
          <p:nvPr/>
        </p:nvSpPr>
        <p:spPr>
          <a:xfrm>
            <a:off x="4612184" y="5287169"/>
            <a:ext cx="305656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DE9E0"/>
                </a:solidFill>
                <a:latin typeface="IBM Plex Sans" pitchFamily="34" charset="0"/>
                <a:ea typeface="IBM Plex Sans" pitchFamily="34" charset="-122"/>
                <a:cs typeface="IBM Plex Sans" pitchFamily="34" charset="-120"/>
              </a:rPr>
              <a:t>CAPSTONE_300D</a:t>
            </a:r>
            <a:endParaRPr lang="en-US" sz="1400" dirty="0"/>
          </a:p>
        </p:txBody>
      </p:sp>
      <p:sp>
        <p:nvSpPr>
          <p:cNvPr id="12" name="Text 10"/>
          <p:cNvSpPr/>
          <p:nvPr/>
        </p:nvSpPr>
        <p:spPr>
          <a:xfrm>
            <a:off x="4612184" y="5612209"/>
            <a:ext cx="30565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Docente: Claudia Reinoso</a:t>
            </a:r>
            <a:endParaRPr lang="en-US" sz="1200" dirty="0"/>
          </a:p>
        </p:txBody>
      </p:sp>
      <p:sp>
        <p:nvSpPr>
          <p:cNvPr id="13" name="Shape 11"/>
          <p:cNvSpPr/>
          <p:nvPr/>
        </p:nvSpPr>
        <p:spPr>
          <a:xfrm>
            <a:off x="7995642" y="4791273"/>
            <a:ext cx="3380284" cy="1453952"/>
          </a:xfrm>
          <a:prstGeom prst="roundRect">
            <a:avLst>
              <a:gd name="adj" fmla="val 6769"/>
            </a:avLst>
          </a:prstGeom>
          <a:solidFill>
            <a:srgbClr val="1E242C"/>
          </a:solidFill>
          <a:ln w="6350">
            <a:solidFill>
              <a:srgbClr val="2C333D"/>
            </a:solidFill>
            <a:prstDash val="solid"/>
          </a:ln>
        </p:spPr>
      </p:sp>
      <p:sp>
        <p:nvSpPr>
          <p:cNvPr id="14" name="Text 12"/>
          <p:cNvSpPr/>
          <p:nvPr/>
        </p:nvSpPr>
        <p:spPr>
          <a:xfrm>
            <a:off x="8202017" y="4997648"/>
            <a:ext cx="305656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A524"/>
                </a:solidFill>
                <a:latin typeface="IBM Plex Sans" pitchFamily="34" charset="0"/>
                <a:ea typeface="IBM Plex Sans" pitchFamily="34" charset="-122"/>
                <a:cs typeface="IBM Plex Sans" pitchFamily="34" charset="-120"/>
              </a:rPr>
              <a:t>REPOSITORIO ÚNICO</a:t>
            </a:r>
            <a:endParaRPr lang="en-US" sz="1200" dirty="0"/>
          </a:p>
        </p:txBody>
      </p:sp>
      <p:sp>
        <p:nvSpPr>
          <p:cNvPr id="15" name="Text 13"/>
          <p:cNvSpPr/>
          <p:nvPr/>
        </p:nvSpPr>
        <p:spPr>
          <a:xfrm>
            <a:off x="8202017" y="5287169"/>
            <a:ext cx="3056560"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DE9E0"/>
                </a:solidFill>
                <a:latin typeface="IBM Plex Sans" pitchFamily="34" charset="0"/>
                <a:ea typeface="IBM Plex Sans" pitchFamily="34" charset="-122"/>
                <a:cs typeface="IBM Plex Sans" pitchFamily="34" charset="-120"/>
              </a:rPr>
              <a:t>github.com/albertp07/plataforma-repartidores</a:t>
            </a:r>
            <a:endParaRPr lang="en-US" sz="1200" dirty="0"/>
          </a:p>
        </p:txBody>
      </p:sp>
      <p:sp>
        <p:nvSpPr>
          <p:cNvPr id="16" name="Text 14"/>
          <p:cNvSpPr/>
          <p:nvPr/>
        </p:nvSpPr>
        <p:spPr>
          <a:xfrm>
            <a:off x="8202017" y="5790009"/>
            <a:ext cx="30565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Sitio: repartidores.aryalspa.com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71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5A524"/>
                </a:solidFill>
                <a:latin typeface="IBM Plex Sans" pitchFamily="34" charset="0"/>
                <a:ea typeface="IBM Plex Sans" pitchFamily="34" charset="-122"/>
                <a:cs typeface="IBM Plex Sans" pitchFamily="34" charset="-120"/>
              </a:rPr>
              <a:t>RESUMEN</a:t>
            </a:r>
            <a:endParaRPr lang="en-US" sz="1200" dirty="0"/>
          </a:p>
        </p:txBody>
      </p:sp>
      <p:sp>
        <p:nvSpPr>
          <p:cNvPr id="3" name="Text 1"/>
          <p:cNvSpPr>
            <a:spLocks noGrp="1"/>
          </p:cNvSpPr>
          <p:nvPr>
            <p:ph type="title"/>
          </p:nvPr>
        </p:nvSpPr>
        <p:spPr>
          <a:xfrm>
            <a:off x="812800" y="873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DE9E0"/>
                </a:solidFill>
                <a:latin typeface="Oswald" pitchFamily="34" charset="0"/>
                <a:ea typeface="Oswald" pitchFamily="34" charset="-122"/>
                <a:cs typeface="Oswald" pitchFamily="34" charset="-120"/>
              </a:rPr>
              <a:t>Abstract</a:t>
            </a:r>
            <a:endParaRPr lang="en-US" sz="3200" dirty="0"/>
          </a:p>
        </p:txBody>
      </p:sp>
      <p:sp>
        <p:nvSpPr>
          <p:cNvPr id="4" name="Shape 2"/>
          <p:cNvSpPr/>
          <p:nvPr/>
        </p:nvSpPr>
        <p:spPr>
          <a:xfrm>
            <a:off x="815975" y="1577876"/>
            <a:ext cx="5175250" cy="3688358"/>
          </a:xfrm>
          <a:prstGeom prst="roundRect">
            <a:avLst>
              <a:gd name="adj" fmla="val 2669"/>
            </a:avLst>
          </a:prstGeom>
          <a:solidFill>
            <a:srgbClr val="1E242C"/>
          </a:solidFill>
          <a:ln w="6350">
            <a:solidFill>
              <a:srgbClr val="2C333D"/>
            </a:solidFill>
            <a:prstDash val="solid"/>
          </a:ln>
        </p:spPr>
      </p:sp>
      <p:sp>
        <p:nvSpPr>
          <p:cNvPr id="5" name="Text 3"/>
          <p:cNvSpPr/>
          <p:nvPr/>
        </p:nvSpPr>
        <p:spPr>
          <a:xfrm>
            <a:off x="1022350" y="1784251"/>
            <a:ext cx="490537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A524"/>
                </a:solidFill>
                <a:latin typeface="IBM Plex Sans" pitchFamily="34" charset="0"/>
                <a:ea typeface="IBM Plex Sans" pitchFamily="34" charset="-122"/>
                <a:cs typeface="IBM Plex Sans" pitchFamily="34" charset="-120"/>
              </a:rPr>
              <a:t>ESPAÑOL</a:t>
            </a:r>
            <a:endParaRPr lang="en-US" sz="1200" dirty="0"/>
          </a:p>
        </p:txBody>
      </p:sp>
      <p:sp>
        <p:nvSpPr>
          <p:cNvPr id="6" name="Text 4"/>
          <p:cNvSpPr/>
          <p:nvPr/>
        </p:nvSpPr>
        <p:spPr>
          <a:xfrm>
            <a:off x="1022350" y="2073771"/>
            <a:ext cx="4905375" cy="301148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DE9E0"/>
                </a:solidFill>
                <a:latin typeface="IBM Plex Sans" pitchFamily="34" charset="0"/>
                <a:ea typeface="IBM Plex Sans" pitchFamily="34" charset="-122"/>
                <a:cs typeface="IBM Plex Sans" pitchFamily="34" charset="-120"/>
              </a:rPr>
              <a:t>Los repartidores de última milla suelen llevar sus ingresos y gastos en un cuaderno o de memoria, lo que genera errores en los montos que realmente les corresponden. Esta plataforma web full-stack automatiza el cálculo del monto líquido, el IVA y el balance neto, sin pagar los paquetes fallidos y aplicando los descuentos de combustible. Incluye un módulo para el repartidor y un panel de administración con métricas, gráficos y comparación entre repartidores. Se desarrolló con Node.js, Express, PostgreSQL, Prisma y React. En esta Fase 2, seis de las ocho etapas del plan están completadas y la interfaz está desplegada en Cloudflare.</a:t>
            </a:r>
            <a:endParaRPr lang="en-US" sz="1400" dirty="0"/>
          </a:p>
        </p:txBody>
      </p:sp>
      <p:sp>
        <p:nvSpPr>
          <p:cNvPr id="7" name="Shape 5"/>
          <p:cNvSpPr/>
          <p:nvPr/>
        </p:nvSpPr>
        <p:spPr>
          <a:xfrm>
            <a:off x="6200775" y="1577876"/>
            <a:ext cx="5175250" cy="3688358"/>
          </a:xfrm>
          <a:prstGeom prst="roundRect">
            <a:avLst>
              <a:gd name="adj" fmla="val 2669"/>
            </a:avLst>
          </a:prstGeom>
          <a:solidFill>
            <a:srgbClr val="1E242C"/>
          </a:solidFill>
          <a:ln w="6350">
            <a:solidFill>
              <a:srgbClr val="2C333D"/>
            </a:solidFill>
            <a:prstDash val="solid"/>
          </a:ln>
        </p:spPr>
      </p:sp>
      <p:sp>
        <p:nvSpPr>
          <p:cNvPr id="8" name="Text 6"/>
          <p:cNvSpPr/>
          <p:nvPr/>
        </p:nvSpPr>
        <p:spPr>
          <a:xfrm>
            <a:off x="6407150" y="1784251"/>
            <a:ext cx="490537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EA8F0"/>
                </a:solidFill>
                <a:latin typeface="IBM Plex Sans" pitchFamily="34" charset="0"/>
                <a:ea typeface="IBM Plex Sans" pitchFamily="34" charset="-122"/>
                <a:cs typeface="IBM Plex Sans" pitchFamily="34" charset="-120"/>
              </a:rPr>
              <a:t>ENGLISH</a:t>
            </a:r>
            <a:endParaRPr lang="en-US" sz="1200" dirty="0"/>
          </a:p>
        </p:txBody>
      </p:sp>
      <p:sp>
        <p:nvSpPr>
          <p:cNvPr id="9" name="Text 7"/>
          <p:cNvSpPr/>
          <p:nvPr/>
        </p:nvSpPr>
        <p:spPr>
          <a:xfrm>
            <a:off x="6407150" y="2073771"/>
            <a:ext cx="4905375" cy="276264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DE9E0"/>
                </a:solidFill>
                <a:latin typeface="IBM Plex Sans" pitchFamily="34" charset="0"/>
                <a:ea typeface="IBM Plex Sans" pitchFamily="34" charset="-122"/>
                <a:cs typeface="IBM Plex Sans" pitchFamily="34" charset="-120"/>
              </a:rPr>
              <a:t>Last-mile couriers often track their income and expenses in a notebook or from memory, which leads to errors in what they are actually owed. This full-stack web platform automates the calculation of net amount, VAT and net balance, excluding failed deliveries from payment and applying fuel discounts. It includes a courier module and an administrator dashboard with metrics, charts and courier comparisons. It was built with Node.js, Express, PostgreSQL, Prisma and React. In this Phase 2, six of the eight plan stages are complete and the interface is deployed on Cloudflare.</a:t>
            </a:r>
            <a:endParaRPr lang="en-US" sz="14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Plataforma de Gestión Financiera · Avance Fase 2</a:t>
            </a:r>
            <a:endParaRPr lang="en-US" sz="1200" dirty="0"/>
          </a:p>
        </p:txBody>
      </p:sp>
      <p:sp>
        <p:nvSpPr>
          <p:cNvPr id="11" name="Text 9"/>
          <p:cNvSpPr/>
          <p:nvPr/>
        </p:nvSpPr>
        <p:spPr>
          <a:xfrm>
            <a:off x="9804400" y="6238280"/>
            <a:ext cx="1574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3ACB8"/>
                </a:solidFill>
                <a:latin typeface="IBM Plex Sans" pitchFamily="34" charset="0"/>
                <a:ea typeface="IBM Plex Sans" pitchFamily="34" charset="-122"/>
                <a:cs typeface="IBM Plex Sans" pitchFamily="34" charset="-120"/>
              </a:rPr>
              <a:t>02 / 16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71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5A524"/>
                </a:solidFill>
                <a:latin typeface="IBM Plex Sans" pitchFamily="34" charset="0"/>
                <a:ea typeface="IBM Plex Sans" pitchFamily="34" charset="-122"/>
                <a:cs typeface="IBM Plex Sans" pitchFamily="34" charset="-120"/>
              </a:rPr>
              <a:t>CONTEXTO</a:t>
            </a:r>
            <a:endParaRPr lang="en-US" sz="1200" dirty="0"/>
          </a:p>
        </p:txBody>
      </p:sp>
      <p:sp>
        <p:nvSpPr>
          <p:cNvPr id="3" name="Text 1"/>
          <p:cNvSpPr>
            <a:spLocks noGrp="1"/>
          </p:cNvSpPr>
          <p:nvPr>
            <p:ph type="title"/>
          </p:nvPr>
        </p:nvSpPr>
        <p:spPr>
          <a:xfrm>
            <a:off x="812800" y="873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DE9E0"/>
                </a:solidFill>
                <a:latin typeface="Oswald" pitchFamily="34" charset="0"/>
                <a:ea typeface="Oswald" pitchFamily="34" charset="-122"/>
                <a:cs typeface="Oswald" pitchFamily="34" charset="-120"/>
              </a:rPr>
              <a:t>Recordatorio del proyecto</a:t>
            </a:r>
            <a:endParaRPr lang="en-US" sz="3200" dirty="0"/>
          </a:p>
        </p:txBody>
      </p:sp>
      <p:sp>
        <p:nvSpPr>
          <p:cNvPr id="4" name="Shape 2"/>
          <p:cNvSpPr/>
          <p:nvPr/>
        </p:nvSpPr>
        <p:spPr>
          <a:xfrm>
            <a:off x="815975" y="1577876"/>
            <a:ext cx="5175250" cy="1509713"/>
          </a:xfrm>
          <a:prstGeom prst="roundRect">
            <a:avLst>
              <a:gd name="adj" fmla="val 6519"/>
            </a:avLst>
          </a:prstGeom>
          <a:solidFill>
            <a:srgbClr val="1E242C"/>
          </a:solidFill>
          <a:ln w="6350">
            <a:solidFill>
              <a:srgbClr val="2C333D"/>
            </a:solidFill>
            <a:prstDash val="solid"/>
          </a:ln>
        </p:spPr>
      </p:sp>
      <p:sp>
        <p:nvSpPr>
          <p:cNvPr id="5" name="Text 3"/>
          <p:cNvSpPr/>
          <p:nvPr/>
        </p:nvSpPr>
        <p:spPr>
          <a:xfrm>
            <a:off x="1022350" y="1784251"/>
            <a:ext cx="490537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Problema</a:t>
            </a:r>
            <a:endParaRPr lang="en-US" sz="1800" dirty="0"/>
          </a:p>
        </p:txBody>
      </p:sp>
      <p:sp>
        <p:nvSpPr>
          <p:cNvPr id="6" name="Text 4"/>
          <p:cNvSpPr/>
          <p:nvPr/>
        </p:nvSpPr>
        <p:spPr>
          <a:xfrm>
            <a:off x="1022350" y="2134691"/>
            <a:ext cx="4905375"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DE9E0"/>
                </a:solidFill>
                <a:latin typeface="IBM Plex Sans" pitchFamily="34" charset="0"/>
                <a:ea typeface="IBM Plex Sans" pitchFamily="34" charset="-122"/>
                <a:cs typeface="IBM Plex Sans" pitchFamily="34" charset="-120"/>
              </a:rPr>
              <a:t>Los repartidores calculan a mano ingresos, IVA y gastos. Los paquetes fallidos no se pagan y los descuentos de bencina distorsionan el balance real.</a:t>
            </a:r>
            <a:endParaRPr lang="en-US" sz="1400" dirty="0"/>
          </a:p>
        </p:txBody>
      </p:sp>
      <p:sp>
        <p:nvSpPr>
          <p:cNvPr id="7" name="Shape 5"/>
          <p:cNvSpPr/>
          <p:nvPr/>
        </p:nvSpPr>
        <p:spPr>
          <a:xfrm>
            <a:off x="6200775" y="1577876"/>
            <a:ext cx="5175250" cy="1509713"/>
          </a:xfrm>
          <a:prstGeom prst="roundRect">
            <a:avLst>
              <a:gd name="adj" fmla="val 6519"/>
            </a:avLst>
          </a:prstGeom>
          <a:solidFill>
            <a:srgbClr val="1E242C"/>
          </a:solidFill>
          <a:ln w="6350">
            <a:solidFill>
              <a:srgbClr val="2C333D"/>
            </a:solidFill>
            <a:prstDash val="solid"/>
          </a:ln>
        </p:spPr>
      </p:sp>
      <p:sp>
        <p:nvSpPr>
          <p:cNvPr id="8" name="Text 6"/>
          <p:cNvSpPr/>
          <p:nvPr/>
        </p:nvSpPr>
        <p:spPr>
          <a:xfrm>
            <a:off x="6407150" y="1784251"/>
            <a:ext cx="490537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Objetivo general</a:t>
            </a:r>
            <a:endParaRPr lang="en-US" sz="1800" dirty="0"/>
          </a:p>
        </p:txBody>
      </p:sp>
      <p:sp>
        <p:nvSpPr>
          <p:cNvPr id="9" name="Text 7"/>
          <p:cNvSpPr/>
          <p:nvPr/>
        </p:nvSpPr>
        <p:spPr>
          <a:xfrm>
            <a:off x="6407150" y="2134691"/>
            <a:ext cx="4905375"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DE9E0"/>
                </a:solidFill>
                <a:latin typeface="IBM Plex Sans" pitchFamily="34" charset="0"/>
                <a:ea typeface="IBM Plex Sans" pitchFamily="34" charset="-122"/>
                <a:cs typeface="IBM Plex Sans" pitchFamily="34" charset="-120"/>
              </a:rPr>
              <a:t>Una plataforma web para registrar y controlar ingresos y gastos con precisión, que dé al administrador una visión del desempeño financiero del equipo.</a:t>
            </a:r>
            <a:endParaRPr lang="en-US" sz="1400" dirty="0"/>
          </a:p>
        </p:txBody>
      </p:sp>
      <p:sp>
        <p:nvSpPr>
          <p:cNvPr id="10" name="Shape 8"/>
          <p:cNvSpPr/>
          <p:nvPr/>
        </p:nvSpPr>
        <p:spPr>
          <a:xfrm>
            <a:off x="815975" y="3297138"/>
            <a:ext cx="5175250" cy="1509713"/>
          </a:xfrm>
          <a:prstGeom prst="roundRect">
            <a:avLst>
              <a:gd name="adj" fmla="val 6519"/>
            </a:avLst>
          </a:prstGeom>
          <a:solidFill>
            <a:srgbClr val="1E242C"/>
          </a:solidFill>
          <a:ln w="6350">
            <a:solidFill>
              <a:srgbClr val="2C333D"/>
            </a:solidFill>
            <a:prstDash val="solid"/>
          </a:ln>
        </p:spPr>
      </p:sp>
      <p:sp>
        <p:nvSpPr>
          <p:cNvPr id="11" name="Text 9"/>
          <p:cNvSpPr/>
          <p:nvPr/>
        </p:nvSpPr>
        <p:spPr>
          <a:xfrm>
            <a:off x="1022350" y="3503513"/>
            <a:ext cx="490537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Usuarios</a:t>
            </a:r>
            <a:endParaRPr lang="en-US" sz="1800" dirty="0"/>
          </a:p>
        </p:txBody>
      </p:sp>
      <p:sp>
        <p:nvSpPr>
          <p:cNvPr id="12" name="Text 10"/>
          <p:cNvSpPr/>
          <p:nvPr/>
        </p:nvSpPr>
        <p:spPr>
          <a:xfrm>
            <a:off x="1022350" y="3853954"/>
            <a:ext cx="4905375"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DE9E0"/>
                </a:solidFill>
                <a:latin typeface="IBM Plex Sans" pitchFamily="34" charset="0"/>
                <a:ea typeface="IBM Plex Sans" pitchFamily="34" charset="-122"/>
                <a:cs typeface="IBM Plex Sans" pitchFamily="34" charset="-120"/>
              </a:rPr>
              <a:t>Repartidor: registra y consulta sus movimientos. Administrador: supervisa al equipo y aprueba nuevos usuarios.</a:t>
            </a:r>
            <a:endParaRPr lang="en-US" sz="1400" dirty="0"/>
          </a:p>
        </p:txBody>
      </p:sp>
      <p:sp>
        <p:nvSpPr>
          <p:cNvPr id="13" name="Shape 11"/>
          <p:cNvSpPr/>
          <p:nvPr/>
        </p:nvSpPr>
        <p:spPr>
          <a:xfrm>
            <a:off x="6200775" y="3297138"/>
            <a:ext cx="5175250" cy="1509713"/>
          </a:xfrm>
          <a:prstGeom prst="roundRect">
            <a:avLst>
              <a:gd name="adj" fmla="val 6519"/>
            </a:avLst>
          </a:prstGeom>
          <a:solidFill>
            <a:srgbClr val="1E242C"/>
          </a:solidFill>
          <a:ln w="6350">
            <a:solidFill>
              <a:srgbClr val="2C333D"/>
            </a:solidFill>
            <a:prstDash val="solid"/>
          </a:ln>
        </p:spPr>
      </p:sp>
      <p:sp>
        <p:nvSpPr>
          <p:cNvPr id="14" name="Text 12"/>
          <p:cNvSpPr/>
          <p:nvPr/>
        </p:nvSpPr>
        <p:spPr>
          <a:xfrm>
            <a:off x="6407150" y="3503513"/>
            <a:ext cx="490537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Alcance del MVP</a:t>
            </a:r>
            <a:endParaRPr lang="en-US" sz="1800" dirty="0"/>
          </a:p>
        </p:txBody>
      </p:sp>
      <p:sp>
        <p:nvSpPr>
          <p:cNvPr id="15" name="Text 13"/>
          <p:cNvSpPr/>
          <p:nvPr/>
        </p:nvSpPr>
        <p:spPr>
          <a:xfrm>
            <a:off x="6407150" y="3853954"/>
            <a:ext cx="4905375"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DE9E0"/>
                </a:solidFill>
                <a:latin typeface="IBM Plex Sans" pitchFamily="34" charset="0"/>
                <a:ea typeface="IBM Plex Sans" pitchFamily="34" charset="-122"/>
                <a:cs typeface="IBM Plex Sans" pitchFamily="34" charset="-120"/>
              </a:rPr>
              <a:t>Acceso con roles, ingresos por paquetes o retiros, gastos, filtros e historial, y panel con métricas y gráficos. Pendiente: exportar reportes.</a:t>
            </a:r>
            <a:endParaRPr lang="en-US" sz="14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Plataforma de Gestión Financiera · Avance Fase 2</a:t>
            </a:r>
            <a:endParaRPr lang="en-US" sz="1200" dirty="0"/>
          </a:p>
        </p:txBody>
      </p:sp>
      <p:sp>
        <p:nvSpPr>
          <p:cNvPr id="17" name="Text 15"/>
          <p:cNvSpPr/>
          <p:nvPr/>
        </p:nvSpPr>
        <p:spPr>
          <a:xfrm>
            <a:off x="9804400" y="6238280"/>
            <a:ext cx="1574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3ACB8"/>
                </a:solidFill>
                <a:latin typeface="IBM Plex Sans" pitchFamily="34" charset="0"/>
                <a:ea typeface="IBM Plex Sans" pitchFamily="34" charset="-122"/>
                <a:cs typeface="IBM Plex Sans" pitchFamily="34" charset="-120"/>
              </a:rPr>
              <a:t>03 / 16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71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5A524"/>
                </a:solidFill>
                <a:latin typeface="IBM Plex Sans" pitchFamily="34" charset="0"/>
                <a:ea typeface="IBM Plex Sans" pitchFamily="34" charset="-122"/>
                <a:cs typeface="IBM Plex Sans" pitchFamily="34" charset="-120"/>
              </a:rPr>
              <a:t>FASE 1</a:t>
            </a:r>
            <a:endParaRPr lang="en-US" sz="1200" dirty="0"/>
          </a:p>
        </p:txBody>
      </p:sp>
      <p:sp>
        <p:nvSpPr>
          <p:cNvPr id="3" name="Text 1"/>
          <p:cNvSpPr>
            <a:spLocks noGrp="1"/>
          </p:cNvSpPr>
          <p:nvPr>
            <p:ph type="title"/>
          </p:nvPr>
        </p:nvSpPr>
        <p:spPr>
          <a:xfrm>
            <a:off x="812800" y="873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DE9E0"/>
                </a:solidFill>
                <a:latin typeface="Oswald" pitchFamily="34" charset="0"/>
                <a:ea typeface="Oswald" pitchFamily="34" charset="-122"/>
                <a:cs typeface="Oswald" pitchFamily="34" charset="-120"/>
              </a:rPr>
              <a:t>Retroalimentación recibida y ajustes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36601"/>
          <a:ext cx="10553700" cy="3607991"/>
        </p:xfrm>
        <a:graphic>
          <a:graphicData uri="http://schemas.openxmlformats.org/drawingml/2006/table">
            <a:tbl>
              <a:tblPr/>
              <a:tblGrid>
                <a:gridCol w="2955036">
                  <a:extLst>
                    <a:ext uri="{9D8B030D-6E8A-4147-A177-3AD203B41FA5}">
                      <a16:colId xmlns:a16="http://schemas.microsoft.com/office/drawing/2014/main" val="20000"/>
                    </a:ext>
                  </a:extLst>
                </a:gridCol>
                <a:gridCol w="3377184">
                  <a:extLst>
                    <a:ext uri="{9D8B030D-6E8A-4147-A177-3AD203B41FA5}">
                      <a16:colId xmlns:a16="http://schemas.microsoft.com/office/drawing/2014/main" val="20001"/>
                    </a:ext>
                  </a:extLst>
                </a:gridCol>
                <a:gridCol w="1160907">
                  <a:extLst>
                    <a:ext uri="{9D8B030D-6E8A-4147-A177-3AD203B41FA5}">
                      <a16:colId xmlns:a16="http://schemas.microsoft.com/office/drawing/2014/main" val="20002"/>
                    </a:ext>
                  </a:extLst>
                </a:gridCol>
                <a:gridCol w="3060573">
                  <a:extLst>
                    <a:ext uri="{9D8B030D-6E8A-4147-A177-3AD203B41FA5}">
                      <a16:colId xmlns:a16="http://schemas.microsoft.com/office/drawing/2014/main" val="20003"/>
                    </a:ext>
                  </a:extLst>
                </a:gridCol>
              </a:tblGrid>
              <a:tr h="332581">
                <a:tc>
                  <a:txBody>
                    <a:bodyPr/>
                    <a:lstStyle/>
                    <a:p>
                      <a:pPr marL="0" indent="0">
                        <a:lnSpc>
                          <a:spcPts val="1680"/>
                        </a:lnSpc>
                        <a:buNone/>
                      </a:pPr>
                      <a:r>
                        <a:rPr lang="en-US" sz="1200" b="1" dirty="0">
                          <a:solidFill>
                            <a:srgbClr val="F5A524"/>
                          </a:solidFill>
                          <a:latin typeface="IBM Plex Sans" pitchFamily="34" charset="0"/>
                          <a:ea typeface="IBM Plex Sans" pitchFamily="34" charset="-122"/>
                          <a:cs typeface="IBM Plex Sans" pitchFamily="34" charset="-120"/>
                        </a:rPr>
                        <a:t>Observación recibida</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595F65"/>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595F65"/>
                      </a:solidFill>
                      <a:prstDash val="solid"/>
                      <a:round/>
                      <a:headEnd type="none" w="med" len="med"/>
                      <a:tailEnd type="none" w="med" len="med"/>
                    </a:lnB>
                    <a:solidFill>
                      <a:srgbClr val="2C333D"/>
                    </a:solidFill>
                  </a:tcPr>
                </a:tc>
                <a:tc>
                  <a:txBody>
                    <a:bodyPr/>
                    <a:lstStyle/>
                    <a:p>
                      <a:pPr marL="0" indent="0">
                        <a:lnSpc>
                          <a:spcPts val="1680"/>
                        </a:lnSpc>
                        <a:buNone/>
                      </a:pPr>
                      <a:r>
                        <a:rPr lang="en-US" sz="1200" b="1" dirty="0">
                          <a:solidFill>
                            <a:srgbClr val="F5A524"/>
                          </a:solidFill>
                          <a:latin typeface="IBM Plex Sans" pitchFamily="34" charset="0"/>
                          <a:ea typeface="IBM Plex Sans" pitchFamily="34" charset="-122"/>
                          <a:cs typeface="IBM Plex Sans" pitchFamily="34" charset="-120"/>
                        </a:rPr>
                        <a:t>Ajuste realizado</a:t>
                      </a:r>
                      <a:endParaRPr lang="en-US" sz="1200" dirty="0">
                        <a:latin typeface="IBM Plex Sans" charset="0"/>
                        <a:ea typeface="IBM Plex Sans" charset="0"/>
                        <a:cs typeface="IBM Plex Sans" charset="0"/>
                      </a:endParaRPr>
                    </a:p>
                  </a:txBody>
                  <a:tcPr marL="53340" marR="53340" marT="53340" marB="53340">
                    <a:lnL w="12700" cap="flat" cmpd="sng" algn="ctr">
                      <a:solidFill>
                        <a:srgbClr val="595F65"/>
                      </a:solidFill>
                      <a:prstDash val="solid"/>
                      <a:round/>
                      <a:headEnd type="none" w="med" len="med"/>
                      <a:tailEnd type="none" w="med" len="med"/>
                    </a:lnL>
                    <a:lnR w="12700" cap="flat" cmpd="sng" algn="ctr">
                      <a:solidFill>
                        <a:srgbClr val="595F65"/>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595F65"/>
                      </a:solidFill>
                      <a:prstDash val="solid"/>
                      <a:round/>
                      <a:headEnd type="none" w="med" len="med"/>
                      <a:tailEnd type="none" w="med" len="med"/>
                    </a:lnB>
                    <a:solidFill>
                      <a:srgbClr val="2C333D"/>
                    </a:solidFill>
                  </a:tcPr>
                </a:tc>
                <a:tc>
                  <a:txBody>
                    <a:bodyPr/>
                    <a:lstStyle/>
                    <a:p>
                      <a:pPr marL="0" indent="0">
                        <a:lnSpc>
                          <a:spcPts val="1680"/>
                        </a:lnSpc>
                        <a:buNone/>
                      </a:pPr>
                      <a:r>
                        <a:rPr lang="en-US" sz="1200" b="1" dirty="0">
                          <a:solidFill>
                            <a:srgbClr val="F5A524"/>
                          </a:solidFill>
                          <a:latin typeface="IBM Plex Sans" pitchFamily="34" charset="0"/>
                          <a:ea typeface="IBM Plex Sans" pitchFamily="34" charset="-122"/>
                          <a:cs typeface="IBM Plex Sans" pitchFamily="34" charset="-120"/>
                        </a:rPr>
                        <a:t>Origen</a:t>
                      </a:r>
                      <a:endParaRPr lang="en-US" sz="1200" dirty="0">
                        <a:latin typeface="IBM Plex Sans" charset="0"/>
                        <a:ea typeface="IBM Plex Sans" charset="0"/>
                        <a:cs typeface="IBM Plex Sans" charset="0"/>
                      </a:endParaRPr>
                    </a:p>
                  </a:txBody>
                  <a:tcPr marL="53340" marR="53340" marT="53340" marB="53340">
                    <a:lnL w="12700" cap="flat" cmpd="sng" algn="ctr">
                      <a:solidFill>
                        <a:srgbClr val="595F65"/>
                      </a:solidFill>
                      <a:prstDash val="solid"/>
                      <a:round/>
                      <a:headEnd type="none" w="med" len="med"/>
                      <a:tailEnd type="none" w="med" len="med"/>
                    </a:lnL>
                    <a:lnR w="12700" cap="flat" cmpd="sng" algn="ctr">
                      <a:solidFill>
                        <a:srgbClr val="595F65"/>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595F65"/>
                      </a:solidFill>
                      <a:prstDash val="solid"/>
                      <a:round/>
                      <a:headEnd type="none" w="med" len="med"/>
                      <a:tailEnd type="none" w="med" len="med"/>
                    </a:lnB>
                    <a:solidFill>
                      <a:srgbClr val="2C333D"/>
                    </a:solidFill>
                  </a:tcPr>
                </a:tc>
                <a:tc>
                  <a:txBody>
                    <a:bodyPr/>
                    <a:lstStyle/>
                    <a:p>
                      <a:pPr marL="0" indent="0">
                        <a:lnSpc>
                          <a:spcPts val="1680"/>
                        </a:lnSpc>
                        <a:buNone/>
                      </a:pPr>
                      <a:r>
                        <a:rPr lang="en-US" sz="1200" b="1" dirty="0">
                          <a:solidFill>
                            <a:srgbClr val="F5A524"/>
                          </a:solidFill>
                          <a:latin typeface="IBM Plex Sans" pitchFamily="34" charset="0"/>
                          <a:ea typeface="IBM Plex Sans" pitchFamily="34" charset="-122"/>
                          <a:cs typeface="IBM Plex Sans" pitchFamily="34" charset="-120"/>
                        </a:rPr>
                        <a:t>Justificación</a:t>
                      </a:r>
                      <a:endParaRPr lang="en-US" sz="1200" dirty="0">
                        <a:latin typeface="IBM Plex Sans" charset="0"/>
                        <a:ea typeface="IBM Plex Sans" charset="0"/>
                        <a:cs typeface="IBM Plex Sans" charset="0"/>
                      </a:endParaRPr>
                    </a:p>
                  </a:txBody>
                  <a:tcPr marL="53340" marR="53340" marT="53340" marB="53340">
                    <a:lnL w="12700" cap="flat" cmpd="sng" algn="ctr">
                      <a:solidFill>
                        <a:srgbClr val="595F65"/>
                      </a:solidFill>
                      <a:prstDash val="solid"/>
                      <a:round/>
                      <a:headEnd type="none" w="med" len="med"/>
                      <a:tailEnd type="none" w="med" len="med"/>
                    </a:lnL>
                    <a:lnR w="12700" cap="flat" cmpd="sng" algn="ctr">
                      <a:solidFill>
                        <a:srgbClr val="595F65"/>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595F65"/>
                      </a:solidFill>
                      <a:prstDash val="solid"/>
                      <a:round/>
                      <a:headEnd type="none" w="med" len="med"/>
                      <a:tailEnd type="none" w="med" len="med"/>
                    </a:lnB>
                    <a:solidFill>
                      <a:srgbClr val="2C333D"/>
                    </a:solidFill>
                  </a:tcPr>
                </a:tc>
                <a:extLst>
                  <a:ext uri="{0D108BD9-81ED-4DB2-BD59-A6C34878D82A}">
                    <a16:rowId xmlns:a16="http://schemas.microsoft.com/office/drawing/2014/main" val="10000"/>
                  </a:ext>
                </a:extLst>
              </a:tr>
              <a:tr h="545902">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Enfoque de trabajo sin nombrar ni instancias de control</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595F65"/>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Se declara metodología en cascada con revisión semanal y criterios de término</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595F65"/>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Retro docente</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595F65"/>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Hace verificable el control del avance</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595F65"/>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extLst>
                  <a:ext uri="{0D108BD9-81ED-4DB2-BD59-A6C34878D82A}">
                    <a16:rowId xmlns:a16="http://schemas.microsoft.com/office/drawing/2014/main" val="10001"/>
                  </a:ext>
                </a:extLst>
              </a:tr>
              <a:tr h="545902">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Plan sin recursos ni facilitadores u obstáculos</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Se agregan columnas Recursos y Observaciones a las 8 etapas</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Retro docente</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Cada etapa explicita qué necesita y qué la afecta</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extLst>
                  <a:ext uri="{0D108BD9-81ED-4DB2-BD59-A6C34878D82A}">
                    <a16:rowId xmlns:a16="http://schemas.microsoft.com/office/drawing/2014/main" val="10002"/>
                  </a:ext>
                </a:extLst>
              </a:tr>
              <a:tr h="545902">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Evidencias sin justificar qué objetivo verifican</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Se agrega una columna de justificación por evidencia</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Retro docente</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Vincula cada evidencia con un objetivo específico</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extLst>
                  <a:ext uri="{0D108BD9-81ED-4DB2-BD59-A6C34878D82A}">
                    <a16:rowId xmlns:a16="http://schemas.microsoft.com/office/drawing/2014/main" val="10003"/>
                  </a:ext>
                </a:extLst>
              </a:tr>
              <a:tr h="545902">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Faltan referencias y hay erratas de redacción</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Se incorporan referencias técnicas y se corrigen tildes y formato</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Retro docente</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Respalda las restricciones de diseño citadas</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extLst>
                  <a:ext uri="{0D108BD9-81ED-4DB2-BD59-A6C34878D82A}">
                    <a16:rowId xmlns:a16="http://schemas.microsoft.com/office/drawing/2014/main" val="10004"/>
                  </a:ext>
                </a:extLst>
              </a:tr>
              <a:tr h="545902">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Gantt vacío y autoevaluación sin completar</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Se completa el Gantt y la autoevaluación de competencias</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Retro docente</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Cumple todos los ítems de la plantilla</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extLst>
                  <a:ext uri="{0D108BD9-81ED-4DB2-BD59-A6C34878D82A}">
                    <a16:rowId xmlns:a16="http://schemas.microsoft.com/office/drawing/2014/main" val="10005"/>
                  </a:ext>
                </a:extLst>
              </a:tr>
              <a:tr h="545902">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Sin hitos formulados como estados alcanzados</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Se define una tabla de hitos con fecha (diapositiva 6)</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Retro docente</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Resultados verificables, no etapas en curso</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Plataforma de Gestión Financiera · Avance Fase 2</a:t>
            </a:r>
            <a:endParaRPr lang="en-US" sz="1200" dirty="0"/>
          </a:p>
        </p:txBody>
      </p:sp>
      <p:sp>
        <p:nvSpPr>
          <p:cNvPr id="6" name="Text 3"/>
          <p:cNvSpPr/>
          <p:nvPr/>
        </p:nvSpPr>
        <p:spPr>
          <a:xfrm>
            <a:off x="9804400" y="6238280"/>
            <a:ext cx="1574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3ACB8"/>
                </a:solidFill>
                <a:latin typeface="IBM Plex Sans" pitchFamily="34" charset="0"/>
                <a:ea typeface="IBM Plex Sans" pitchFamily="34" charset="-122"/>
                <a:cs typeface="IBM Plex Sans" pitchFamily="34" charset="-120"/>
              </a:rPr>
              <a:t>04 / 16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71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5A524"/>
                </a:solidFill>
                <a:latin typeface="IBM Plex Sans" pitchFamily="34" charset="0"/>
                <a:ea typeface="IBM Plex Sans" pitchFamily="34" charset="-122"/>
                <a:cs typeface="IBM Plex Sans" pitchFamily="34" charset="-120"/>
              </a:rPr>
              <a:t>METODOLOGÍA</a:t>
            </a:r>
            <a:endParaRPr lang="en-US" sz="1200" dirty="0"/>
          </a:p>
        </p:txBody>
      </p:sp>
      <p:sp>
        <p:nvSpPr>
          <p:cNvPr id="3" name="Text 1"/>
          <p:cNvSpPr>
            <a:spLocks noGrp="1"/>
          </p:cNvSpPr>
          <p:nvPr>
            <p:ph type="title"/>
          </p:nvPr>
        </p:nvSpPr>
        <p:spPr>
          <a:xfrm>
            <a:off x="812800" y="873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DE9E0"/>
                </a:solidFill>
                <a:latin typeface="Oswald" pitchFamily="34" charset="0"/>
                <a:ea typeface="Oswald" pitchFamily="34" charset="-122"/>
                <a:cs typeface="Oswald" pitchFamily="34" charset="-120"/>
              </a:rPr>
              <a:t>Cascada: plan contra avance real</a:t>
            </a:r>
            <a:endParaRPr lang="en-US" sz="3200" dirty="0"/>
          </a:p>
        </p:txBody>
      </p:sp>
      <p:sp>
        <p:nvSpPr>
          <p:cNvPr id="4" name="Text 2"/>
          <p:cNvSpPr/>
          <p:nvPr/>
        </p:nvSpPr>
        <p:spPr>
          <a:xfrm>
            <a:off x="812800" y="1574701"/>
            <a:ext cx="1831340" cy="330200"/>
          </a:xfrm>
          <a:prstGeom prst="rect">
            <a:avLst/>
          </a:prstGeom>
          <a:noFill/>
          <a:ln/>
        </p:spPr>
        <p:txBody>
          <a:bodyPr wrap="none" lIns="0" tIns="0" rIns="0" bIns="0" rtlCol="0" anchor="t">
            <a:normAutofit/>
          </a:bodyPr>
          <a:lstStyle/>
          <a:p>
            <a:pPr marL="0" indent="0" algn="l">
              <a:lnSpc>
                <a:spcPts val="2400"/>
              </a:lnSpc>
              <a:buNone/>
            </a:pPr>
            <a:r>
              <a:rPr lang="en-US" sz="1200" dirty="0">
                <a:solidFill>
                  <a:srgbClr val="EDE9E0"/>
                </a:solidFill>
                <a:latin typeface="IBM Plex Sans" pitchFamily="34" charset="0"/>
                <a:ea typeface="IBM Plex Sans" pitchFamily="34" charset="-122"/>
                <a:cs typeface="IBM Plex Sans" pitchFamily="34" charset="-120"/>
              </a:rPr>
              <a:t>1 Requerimientos</a:t>
            </a:r>
            <a:endParaRPr lang="en-US" sz="1200" dirty="0"/>
          </a:p>
        </p:txBody>
      </p:sp>
      <p:sp>
        <p:nvSpPr>
          <p:cNvPr id="5" name="Text 3"/>
          <p:cNvSpPr/>
          <p:nvPr/>
        </p:nvSpPr>
        <p:spPr>
          <a:xfrm>
            <a:off x="812800" y="1879501"/>
            <a:ext cx="1831340" cy="330200"/>
          </a:xfrm>
          <a:prstGeom prst="rect">
            <a:avLst/>
          </a:prstGeom>
          <a:noFill/>
          <a:ln/>
        </p:spPr>
        <p:txBody>
          <a:bodyPr wrap="none" lIns="0" tIns="0" rIns="0" bIns="0" rtlCol="0" anchor="t">
            <a:normAutofit/>
          </a:bodyPr>
          <a:lstStyle/>
          <a:p>
            <a:pPr marL="0" indent="0" algn="l">
              <a:lnSpc>
                <a:spcPts val="2400"/>
              </a:lnSpc>
              <a:buNone/>
            </a:pPr>
            <a:r>
              <a:rPr lang="en-US" sz="1200" dirty="0">
                <a:solidFill>
                  <a:srgbClr val="EDE9E0"/>
                </a:solidFill>
                <a:latin typeface="IBM Plex Sans" pitchFamily="34" charset="0"/>
                <a:ea typeface="IBM Plex Sans" pitchFamily="34" charset="-122"/>
                <a:cs typeface="IBM Plex Sans" pitchFamily="34" charset="-120"/>
              </a:rPr>
              <a:t>2 Modelo de datos</a:t>
            </a:r>
            <a:endParaRPr lang="en-US" sz="1200" dirty="0"/>
          </a:p>
        </p:txBody>
      </p:sp>
      <p:sp>
        <p:nvSpPr>
          <p:cNvPr id="6" name="Text 4"/>
          <p:cNvSpPr/>
          <p:nvPr/>
        </p:nvSpPr>
        <p:spPr>
          <a:xfrm>
            <a:off x="812800" y="2184301"/>
            <a:ext cx="1831340" cy="330200"/>
          </a:xfrm>
          <a:prstGeom prst="rect">
            <a:avLst/>
          </a:prstGeom>
          <a:noFill/>
          <a:ln/>
        </p:spPr>
        <p:txBody>
          <a:bodyPr wrap="none" lIns="0" tIns="0" rIns="0" bIns="0" rtlCol="0" anchor="t">
            <a:normAutofit/>
          </a:bodyPr>
          <a:lstStyle/>
          <a:p>
            <a:pPr marL="0" indent="0" algn="l">
              <a:lnSpc>
                <a:spcPts val="2400"/>
              </a:lnSpc>
              <a:buNone/>
            </a:pPr>
            <a:r>
              <a:rPr lang="en-US" sz="1200" dirty="0">
                <a:solidFill>
                  <a:srgbClr val="EDE9E0"/>
                </a:solidFill>
                <a:latin typeface="IBM Plex Sans" pitchFamily="34" charset="0"/>
                <a:ea typeface="IBM Plex Sans" pitchFamily="34" charset="-122"/>
                <a:cs typeface="IBM Plex Sans" pitchFamily="34" charset="-120"/>
              </a:rPr>
              <a:t>3 Backend (API)</a:t>
            </a:r>
            <a:endParaRPr lang="en-US" sz="1200" dirty="0"/>
          </a:p>
        </p:txBody>
      </p:sp>
      <p:sp>
        <p:nvSpPr>
          <p:cNvPr id="7" name="Text 5"/>
          <p:cNvSpPr/>
          <p:nvPr/>
        </p:nvSpPr>
        <p:spPr>
          <a:xfrm>
            <a:off x="812800" y="2489101"/>
            <a:ext cx="1831340" cy="330200"/>
          </a:xfrm>
          <a:prstGeom prst="rect">
            <a:avLst/>
          </a:prstGeom>
          <a:noFill/>
          <a:ln/>
        </p:spPr>
        <p:txBody>
          <a:bodyPr wrap="none" lIns="0" tIns="0" rIns="0" bIns="0" rtlCol="0" anchor="t">
            <a:normAutofit/>
          </a:bodyPr>
          <a:lstStyle/>
          <a:p>
            <a:pPr marL="0" indent="0" algn="l">
              <a:lnSpc>
                <a:spcPts val="2400"/>
              </a:lnSpc>
              <a:buNone/>
            </a:pPr>
            <a:r>
              <a:rPr lang="en-US" sz="1200" dirty="0">
                <a:solidFill>
                  <a:srgbClr val="EDE9E0"/>
                </a:solidFill>
                <a:latin typeface="IBM Plex Sans" pitchFamily="34" charset="0"/>
                <a:ea typeface="IBM Plex Sans" pitchFamily="34" charset="-122"/>
                <a:cs typeface="IBM Plex Sans" pitchFamily="34" charset="-120"/>
              </a:rPr>
              <a:t>4 Módulo repartidor</a:t>
            </a:r>
            <a:endParaRPr lang="en-US" sz="1200" dirty="0"/>
          </a:p>
        </p:txBody>
      </p:sp>
      <p:sp>
        <p:nvSpPr>
          <p:cNvPr id="8" name="Text 6"/>
          <p:cNvSpPr/>
          <p:nvPr/>
        </p:nvSpPr>
        <p:spPr>
          <a:xfrm>
            <a:off x="812800" y="2793901"/>
            <a:ext cx="1831340" cy="330200"/>
          </a:xfrm>
          <a:prstGeom prst="rect">
            <a:avLst/>
          </a:prstGeom>
          <a:noFill/>
          <a:ln/>
        </p:spPr>
        <p:txBody>
          <a:bodyPr wrap="none" lIns="0" tIns="0" rIns="0" bIns="0" rtlCol="0" anchor="t">
            <a:normAutofit/>
          </a:bodyPr>
          <a:lstStyle/>
          <a:p>
            <a:pPr marL="0" indent="0" algn="l">
              <a:lnSpc>
                <a:spcPts val="2400"/>
              </a:lnSpc>
              <a:buNone/>
            </a:pPr>
            <a:r>
              <a:rPr lang="en-US" sz="1200" dirty="0">
                <a:solidFill>
                  <a:srgbClr val="EDE9E0"/>
                </a:solidFill>
                <a:latin typeface="IBM Plex Sans" pitchFamily="34" charset="0"/>
                <a:ea typeface="IBM Plex Sans" pitchFamily="34" charset="-122"/>
                <a:cs typeface="IBM Plex Sans" pitchFamily="34" charset="-120"/>
              </a:rPr>
              <a:t>5 Panel administrador</a:t>
            </a:r>
            <a:endParaRPr lang="en-US" sz="1200" dirty="0"/>
          </a:p>
        </p:txBody>
      </p:sp>
      <p:sp>
        <p:nvSpPr>
          <p:cNvPr id="9" name="Text 7"/>
          <p:cNvSpPr/>
          <p:nvPr/>
        </p:nvSpPr>
        <p:spPr>
          <a:xfrm>
            <a:off x="812800" y="3098701"/>
            <a:ext cx="1831340" cy="330200"/>
          </a:xfrm>
          <a:prstGeom prst="rect">
            <a:avLst/>
          </a:prstGeom>
          <a:noFill/>
          <a:ln/>
        </p:spPr>
        <p:txBody>
          <a:bodyPr wrap="none" lIns="0" tIns="0" rIns="0" bIns="0" rtlCol="0" anchor="t">
            <a:normAutofit/>
          </a:bodyPr>
          <a:lstStyle/>
          <a:p>
            <a:pPr marL="0" indent="0" algn="l">
              <a:lnSpc>
                <a:spcPts val="2400"/>
              </a:lnSpc>
              <a:buNone/>
            </a:pPr>
            <a:r>
              <a:rPr lang="en-US" sz="1200" dirty="0">
                <a:solidFill>
                  <a:srgbClr val="EDE9E0"/>
                </a:solidFill>
                <a:latin typeface="IBM Plex Sans" pitchFamily="34" charset="0"/>
                <a:ea typeface="IBM Plex Sans" pitchFamily="34" charset="-122"/>
                <a:cs typeface="IBM Plex Sans" pitchFamily="34" charset="-120"/>
              </a:rPr>
              <a:t>6 Despliegue</a:t>
            </a:r>
            <a:endParaRPr lang="en-US" sz="1200" dirty="0"/>
          </a:p>
        </p:txBody>
      </p:sp>
      <p:sp>
        <p:nvSpPr>
          <p:cNvPr id="10" name="Text 8"/>
          <p:cNvSpPr/>
          <p:nvPr/>
        </p:nvSpPr>
        <p:spPr>
          <a:xfrm>
            <a:off x="812800" y="3403501"/>
            <a:ext cx="1831340" cy="330200"/>
          </a:xfrm>
          <a:prstGeom prst="rect">
            <a:avLst/>
          </a:prstGeom>
          <a:noFill/>
          <a:ln/>
        </p:spPr>
        <p:txBody>
          <a:bodyPr wrap="none" lIns="0" tIns="0" rIns="0" bIns="0" rtlCol="0" anchor="t">
            <a:normAutofit/>
          </a:bodyPr>
          <a:lstStyle/>
          <a:p>
            <a:pPr marL="0" indent="0" algn="l">
              <a:lnSpc>
                <a:spcPts val="2400"/>
              </a:lnSpc>
              <a:buNone/>
            </a:pPr>
            <a:r>
              <a:rPr lang="en-US" sz="1200" dirty="0">
                <a:solidFill>
                  <a:srgbClr val="EDE9E0"/>
                </a:solidFill>
                <a:latin typeface="IBM Plex Sans" pitchFamily="34" charset="0"/>
                <a:ea typeface="IBM Plex Sans" pitchFamily="34" charset="-122"/>
                <a:cs typeface="IBM Plex Sans" pitchFamily="34" charset="-120"/>
              </a:rPr>
              <a:t>7 Pruebas y ajustes</a:t>
            </a:r>
            <a:endParaRPr lang="en-US" sz="1200" dirty="0"/>
          </a:p>
        </p:txBody>
      </p:sp>
      <p:sp>
        <p:nvSpPr>
          <p:cNvPr id="11" name="Text 9"/>
          <p:cNvSpPr/>
          <p:nvPr/>
        </p:nvSpPr>
        <p:spPr>
          <a:xfrm>
            <a:off x="812800" y="3708301"/>
            <a:ext cx="1831340" cy="330200"/>
          </a:xfrm>
          <a:prstGeom prst="rect">
            <a:avLst/>
          </a:prstGeom>
          <a:noFill/>
          <a:ln/>
        </p:spPr>
        <p:txBody>
          <a:bodyPr wrap="none" lIns="0" tIns="0" rIns="0" bIns="0" rtlCol="0" anchor="t">
            <a:normAutofit/>
          </a:bodyPr>
          <a:lstStyle/>
          <a:p>
            <a:pPr marL="0" indent="0" algn="l">
              <a:lnSpc>
                <a:spcPts val="2400"/>
              </a:lnSpc>
              <a:buNone/>
            </a:pPr>
            <a:r>
              <a:rPr lang="en-US" sz="1200" dirty="0">
                <a:solidFill>
                  <a:srgbClr val="EDE9E0"/>
                </a:solidFill>
                <a:latin typeface="IBM Plex Sans" pitchFamily="34" charset="0"/>
                <a:ea typeface="IBM Plex Sans" pitchFamily="34" charset="-122"/>
                <a:cs typeface="IBM Plex Sans" pitchFamily="34" charset="-120"/>
              </a:rPr>
              <a:t>8 Documentación</a:t>
            </a:r>
            <a:endParaRPr lang="en-US" sz="1200" dirty="0"/>
          </a:p>
        </p:txBody>
      </p:sp>
      <p:sp>
        <p:nvSpPr>
          <p:cNvPr id="12" name="Text 10"/>
          <p:cNvSpPr/>
          <p:nvPr/>
        </p:nvSpPr>
        <p:spPr>
          <a:xfrm>
            <a:off x="2717800" y="1574701"/>
            <a:ext cx="330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Ago</a:t>
            </a:r>
            <a:endParaRPr lang="en-US" sz="1200" dirty="0"/>
          </a:p>
        </p:txBody>
      </p:sp>
      <p:sp>
        <p:nvSpPr>
          <p:cNvPr id="13" name="Text 11"/>
          <p:cNvSpPr/>
          <p:nvPr/>
        </p:nvSpPr>
        <p:spPr>
          <a:xfrm>
            <a:off x="3022600" y="1574701"/>
            <a:ext cx="812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Sep</a:t>
            </a:r>
            <a:endParaRPr lang="en-US" sz="1200" dirty="0"/>
          </a:p>
        </p:txBody>
      </p:sp>
      <p:sp>
        <p:nvSpPr>
          <p:cNvPr id="14" name="Text 12"/>
          <p:cNvSpPr/>
          <p:nvPr/>
        </p:nvSpPr>
        <p:spPr>
          <a:xfrm>
            <a:off x="4711700" y="1574701"/>
            <a:ext cx="812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Oct</a:t>
            </a:r>
            <a:endParaRPr lang="en-US" sz="1200" dirty="0"/>
          </a:p>
        </p:txBody>
      </p:sp>
      <p:sp>
        <p:nvSpPr>
          <p:cNvPr id="15" name="Text 13"/>
          <p:cNvSpPr/>
          <p:nvPr/>
        </p:nvSpPr>
        <p:spPr>
          <a:xfrm>
            <a:off x="6426200" y="1574701"/>
            <a:ext cx="812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Nov</a:t>
            </a:r>
            <a:endParaRPr lang="en-US" sz="1200" dirty="0"/>
          </a:p>
        </p:txBody>
      </p:sp>
      <p:pic>
        <p:nvPicPr>
          <p:cNvPr id="16" name="Image 0" descr="Carta Gantt de ocho etapas entre el 28 de agosto y el 28 de noviembre de 2026. Las etapas 1 a 6 están completas, la 7 va en 30 % y la 8 en 25 %. La línea punteada marca el 14 de octubre."/>
          <p:cNvPicPr>
            <a:picLocks noChangeAspect="1"/>
          </p:cNvPicPr>
          <p:nvPr/>
        </p:nvPicPr>
        <p:blipFill>
          <a:blip r:embed="rId3"/>
          <a:srcRect/>
          <a:stretch/>
        </p:blipFill>
        <p:spPr>
          <a:xfrm>
            <a:off x="2717800" y="1828701"/>
            <a:ext cx="5257800" cy="2438400"/>
          </a:xfrm>
          <a:prstGeom prst="rect">
            <a:avLst/>
          </a:prstGeom>
        </p:spPr>
      </p:pic>
      <p:sp>
        <p:nvSpPr>
          <p:cNvPr id="17" name="Text 14"/>
          <p:cNvSpPr/>
          <p:nvPr/>
        </p:nvSpPr>
        <p:spPr>
          <a:xfrm>
            <a:off x="812800" y="4368701"/>
            <a:ext cx="74823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A8F0"/>
                </a:solidFill>
                <a:latin typeface="IBM Plex Sans" pitchFamily="34" charset="0"/>
                <a:ea typeface="IBM Plex Sans" pitchFamily="34" charset="-122"/>
                <a:cs typeface="IBM Plex Sans" pitchFamily="34" charset="-120"/>
              </a:rPr>
              <a:t>Azul:</a:t>
            </a:r>
            <a:r>
              <a:rPr lang="en-US" sz="1200" dirty="0">
                <a:solidFill>
                  <a:srgbClr val="A3ACB8"/>
                </a:solidFill>
                <a:latin typeface="IBM Plex Sans" pitchFamily="34" charset="0"/>
                <a:ea typeface="IBM Plex Sans" pitchFamily="34" charset="-122"/>
                <a:cs typeface="IBM Plex Sans" pitchFamily="34" charset="-120"/>
              </a:rPr>
              <a:t> etapa completada · </a:t>
            </a:r>
            <a:r>
              <a:rPr lang="en-US" sz="1200" dirty="0">
                <a:solidFill>
                  <a:srgbClr val="F5A524"/>
                </a:solidFill>
                <a:latin typeface="IBM Plex Sans" pitchFamily="34" charset="0"/>
                <a:ea typeface="IBM Plex Sans" pitchFamily="34" charset="-122"/>
                <a:cs typeface="IBM Plex Sans" pitchFamily="34" charset="-120"/>
              </a:rPr>
              <a:t>Ámbar:</a:t>
            </a:r>
            <a:r>
              <a:rPr lang="en-US" sz="1200" dirty="0">
                <a:solidFill>
                  <a:srgbClr val="A3ACB8"/>
                </a:solidFill>
                <a:latin typeface="IBM Plex Sans" pitchFamily="34" charset="0"/>
                <a:ea typeface="IBM Plex Sans" pitchFamily="34" charset="-122"/>
                <a:cs typeface="IBM Plex Sans" pitchFamily="34" charset="-120"/>
              </a:rPr>
              <a:t> avance parcial · Gris: plan pendiente · Línea punteada: hoy, 14 oct</a:t>
            </a:r>
            <a:endParaRPr lang="en-US" sz="1200" dirty="0"/>
          </a:p>
        </p:txBody>
      </p:sp>
      <p:sp>
        <p:nvSpPr>
          <p:cNvPr id="18" name="Shape 15"/>
          <p:cNvSpPr/>
          <p:nvPr/>
        </p:nvSpPr>
        <p:spPr>
          <a:xfrm>
            <a:off x="8334375" y="1577876"/>
            <a:ext cx="3041650" cy="3170634"/>
          </a:xfrm>
          <a:prstGeom prst="roundRect">
            <a:avLst>
              <a:gd name="adj" fmla="val 3236"/>
            </a:avLst>
          </a:prstGeom>
          <a:solidFill>
            <a:srgbClr val="1E242C"/>
          </a:solidFill>
          <a:ln w="6350">
            <a:solidFill>
              <a:srgbClr val="2C333D"/>
            </a:solidFill>
            <a:prstDash val="solid"/>
          </a:ln>
        </p:spPr>
      </p:sp>
      <p:sp>
        <p:nvSpPr>
          <p:cNvPr id="19" name="Text 16"/>
          <p:cNvSpPr/>
          <p:nvPr/>
        </p:nvSpPr>
        <p:spPr>
          <a:xfrm>
            <a:off x="8540750" y="1784251"/>
            <a:ext cx="2707767"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Instancias de control</a:t>
            </a:r>
            <a:endParaRPr lang="en-US" sz="1800" dirty="0"/>
          </a:p>
        </p:txBody>
      </p:sp>
      <p:sp>
        <p:nvSpPr>
          <p:cNvPr id="20" name="Text 17"/>
          <p:cNvSpPr/>
          <p:nvPr/>
        </p:nvSpPr>
        <p:spPr>
          <a:xfrm>
            <a:off x="8540750" y="2185491"/>
            <a:ext cx="270776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DE9E0"/>
                </a:solidFill>
                <a:latin typeface="IBM Plex Sans" pitchFamily="34" charset="0"/>
                <a:ea typeface="IBM Plex Sans" pitchFamily="34" charset="-122"/>
                <a:cs typeface="IBM Plex Sans" pitchFamily="34" charset="-120"/>
              </a:rPr>
              <a:t>Revisión semanal</a:t>
            </a:r>
            <a:endParaRPr lang="en-US" sz="1400" dirty="0"/>
          </a:p>
        </p:txBody>
      </p:sp>
      <p:sp>
        <p:nvSpPr>
          <p:cNvPr id="21" name="Text 18"/>
          <p:cNvSpPr/>
          <p:nvPr/>
        </p:nvSpPr>
        <p:spPr>
          <a:xfrm>
            <a:off x="8540750" y="2459732"/>
            <a:ext cx="270776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Avance real contra el Gantt, cada semana.</a:t>
            </a:r>
            <a:endParaRPr lang="en-US" sz="1200" dirty="0"/>
          </a:p>
        </p:txBody>
      </p:sp>
      <p:sp>
        <p:nvSpPr>
          <p:cNvPr id="22" name="Text 19"/>
          <p:cNvSpPr/>
          <p:nvPr/>
        </p:nvSpPr>
        <p:spPr>
          <a:xfrm>
            <a:off x="8540750" y="3013373"/>
            <a:ext cx="270776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DE9E0"/>
                </a:solidFill>
                <a:latin typeface="IBM Plex Sans" pitchFamily="34" charset="0"/>
                <a:ea typeface="IBM Plex Sans" pitchFamily="34" charset="-122"/>
                <a:cs typeface="IBM Plex Sans" pitchFamily="34" charset="-120"/>
              </a:rPr>
              <a:t>Término de módulo</a:t>
            </a:r>
            <a:endParaRPr lang="en-US" sz="1400" dirty="0"/>
          </a:p>
        </p:txBody>
      </p:sp>
      <p:sp>
        <p:nvSpPr>
          <p:cNvPr id="23" name="Text 20"/>
          <p:cNvSpPr/>
          <p:nvPr/>
        </p:nvSpPr>
        <p:spPr>
          <a:xfrm>
            <a:off x="8540750" y="3287613"/>
            <a:ext cx="270776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Cálculos correctos, flujo completo y prueba en la interfaz.</a:t>
            </a:r>
            <a:endParaRPr lang="en-US" sz="1200" dirty="0"/>
          </a:p>
        </p:txBody>
      </p:sp>
      <p:sp>
        <p:nvSpPr>
          <p:cNvPr id="24" name="Text 21"/>
          <p:cNvSpPr/>
          <p:nvPr/>
        </p:nvSpPr>
        <p:spPr>
          <a:xfrm>
            <a:off x="8540750" y="3841254"/>
            <a:ext cx="270776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DE9E0"/>
                </a:solidFill>
                <a:latin typeface="IBM Plex Sans" pitchFamily="34" charset="0"/>
                <a:ea typeface="IBM Plex Sans" pitchFamily="34" charset="-122"/>
                <a:cs typeface="IBM Plex Sans" pitchFamily="34" charset="-120"/>
              </a:rPr>
              <a:t>Validación con el usuario</a:t>
            </a:r>
            <a:endParaRPr lang="en-US" sz="1400" dirty="0"/>
          </a:p>
        </p:txBody>
      </p:sp>
      <p:sp>
        <p:nvSpPr>
          <p:cNvPr id="25" name="Text 22"/>
          <p:cNvSpPr/>
          <p:nvPr/>
        </p:nvSpPr>
        <p:spPr>
          <a:xfrm>
            <a:off x="8540750" y="4115495"/>
            <a:ext cx="270776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Demo a un repartidor de referencia al cerrar cada módulo.</a:t>
            </a:r>
            <a:endParaRPr lang="en-US" sz="1200" dirty="0"/>
          </a:p>
        </p:txBody>
      </p:sp>
      <p:sp>
        <p:nvSpPr>
          <p:cNvPr id="26" name="Text 2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Plataforma de Gestión Financiera · Avance Fase 2</a:t>
            </a:r>
            <a:endParaRPr lang="en-US" sz="1200" dirty="0"/>
          </a:p>
        </p:txBody>
      </p:sp>
      <p:sp>
        <p:nvSpPr>
          <p:cNvPr id="27" name="Text 24"/>
          <p:cNvSpPr/>
          <p:nvPr/>
        </p:nvSpPr>
        <p:spPr>
          <a:xfrm>
            <a:off x="9804400" y="6238280"/>
            <a:ext cx="1574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3ACB8"/>
                </a:solidFill>
                <a:latin typeface="IBM Plex Sans" pitchFamily="34" charset="0"/>
                <a:ea typeface="IBM Plex Sans" pitchFamily="34" charset="-122"/>
                <a:cs typeface="IBM Plex Sans" pitchFamily="34" charset="-120"/>
              </a:rPr>
              <a:t>05 / 16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71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5A524"/>
                </a:solidFill>
                <a:latin typeface="IBM Plex Sans" pitchFamily="34" charset="0"/>
                <a:ea typeface="IBM Plex Sans" pitchFamily="34" charset="-122"/>
                <a:cs typeface="IBM Plex Sans" pitchFamily="34" charset="-120"/>
              </a:rPr>
              <a:t>PLAN DE TRABAJO</a:t>
            </a:r>
            <a:endParaRPr lang="en-US" sz="1200" dirty="0"/>
          </a:p>
        </p:txBody>
      </p:sp>
      <p:sp>
        <p:nvSpPr>
          <p:cNvPr id="3" name="Text 1"/>
          <p:cNvSpPr>
            <a:spLocks noGrp="1"/>
          </p:cNvSpPr>
          <p:nvPr>
            <p:ph type="title"/>
          </p:nvPr>
        </p:nvSpPr>
        <p:spPr>
          <a:xfrm>
            <a:off x="812800" y="873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DE9E0"/>
                </a:solidFill>
                <a:latin typeface="Oswald" pitchFamily="34" charset="0"/>
                <a:ea typeface="Oswald" pitchFamily="34" charset="-122"/>
                <a:cs typeface="Oswald" pitchFamily="34" charset="-120"/>
              </a:rPr>
              <a:t>6 de 8 actividades completadas, ninguna con retraso</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36601"/>
          <a:ext cx="10553700" cy="3633192"/>
        </p:xfrm>
        <a:graphic>
          <a:graphicData uri="http://schemas.openxmlformats.org/drawingml/2006/table">
            <a:tbl>
              <a:tblPr/>
              <a:tblGrid>
                <a:gridCol w="3166110">
                  <a:extLst>
                    <a:ext uri="{9D8B030D-6E8A-4147-A177-3AD203B41FA5}">
                      <a16:colId xmlns:a16="http://schemas.microsoft.com/office/drawing/2014/main" val="20000"/>
                    </a:ext>
                  </a:extLst>
                </a:gridCol>
                <a:gridCol w="1583055">
                  <a:extLst>
                    <a:ext uri="{9D8B030D-6E8A-4147-A177-3AD203B41FA5}">
                      <a16:colId xmlns:a16="http://schemas.microsoft.com/office/drawing/2014/main" val="20001"/>
                    </a:ext>
                  </a:extLst>
                </a:gridCol>
                <a:gridCol w="949833">
                  <a:extLst>
                    <a:ext uri="{9D8B030D-6E8A-4147-A177-3AD203B41FA5}">
                      <a16:colId xmlns:a16="http://schemas.microsoft.com/office/drawing/2014/main" val="20002"/>
                    </a:ext>
                  </a:extLst>
                </a:gridCol>
                <a:gridCol w="1371981">
                  <a:extLst>
                    <a:ext uri="{9D8B030D-6E8A-4147-A177-3AD203B41FA5}">
                      <a16:colId xmlns:a16="http://schemas.microsoft.com/office/drawing/2014/main" val="20003"/>
                    </a:ext>
                  </a:extLst>
                </a:gridCol>
                <a:gridCol w="3482721">
                  <a:extLst>
                    <a:ext uri="{9D8B030D-6E8A-4147-A177-3AD203B41FA5}">
                      <a16:colId xmlns:a16="http://schemas.microsoft.com/office/drawing/2014/main" val="20004"/>
                    </a:ext>
                  </a:extLst>
                </a:gridCol>
              </a:tblGrid>
              <a:tr h="332581">
                <a:tc>
                  <a:txBody>
                    <a:bodyPr/>
                    <a:lstStyle/>
                    <a:p>
                      <a:pPr marL="0" indent="0">
                        <a:lnSpc>
                          <a:spcPts val="1680"/>
                        </a:lnSpc>
                        <a:buNone/>
                      </a:pPr>
                      <a:r>
                        <a:rPr lang="en-US" sz="1200" b="1" dirty="0">
                          <a:solidFill>
                            <a:srgbClr val="F5A524"/>
                          </a:solidFill>
                          <a:latin typeface="IBM Plex Sans" pitchFamily="34" charset="0"/>
                          <a:ea typeface="IBM Plex Sans" pitchFamily="34" charset="-122"/>
                          <a:cs typeface="IBM Plex Sans" pitchFamily="34" charset="-120"/>
                        </a:rPr>
                        <a:t>Actividad</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595F65"/>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595F65"/>
                      </a:solidFill>
                      <a:prstDash val="solid"/>
                      <a:round/>
                      <a:headEnd type="none" w="med" len="med"/>
                      <a:tailEnd type="none" w="med" len="med"/>
                    </a:lnB>
                    <a:solidFill>
                      <a:srgbClr val="2C333D"/>
                    </a:solidFill>
                  </a:tcPr>
                </a:tc>
                <a:tc>
                  <a:txBody>
                    <a:bodyPr/>
                    <a:lstStyle/>
                    <a:p>
                      <a:pPr marL="0" indent="0">
                        <a:lnSpc>
                          <a:spcPts val="1680"/>
                        </a:lnSpc>
                        <a:buNone/>
                      </a:pPr>
                      <a:r>
                        <a:rPr lang="en-US" sz="1200" b="1" dirty="0">
                          <a:solidFill>
                            <a:srgbClr val="F5A524"/>
                          </a:solidFill>
                          <a:latin typeface="IBM Plex Sans" pitchFamily="34" charset="0"/>
                          <a:ea typeface="IBM Plex Sans" pitchFamily="34" charset="-122"/>
                          <a:cs typeface="IBM Plex Sans" pitchFamily="34" charset="-120"/>
                        </a:rPr>
                        <a:t>Plan</a:t>
                      </a:r>
                      <a:endParaRPr lang="en-US" sz="1200" dirty="0">
                        <a:latin typeface="IBM Plex Sans" charset="0"/>
                        <a:ea typeface="IBM Plex Sans" charset="0"/>
                        <a:cs typeface="IBM Plex Sans" charset="0"/>
                      </a:endParaRPr>
                    </a:p>
                  </a:txBody>
                  <a:tcPr marL="53340" marR="53340" marT="53340" marB="53340">
                    <a:lnL w="12700" cap="flat" cmpd="sng" algn="ctr">
                      <a:solidFill>
                        <a:srgbClr val="595F65"/>
                      </a:solidFill>
                      <a:prstDash val="solid"/>
                      <a:round/>
                      <a:headEnd type="none" w="med" len="med"/>
                      <a:tailEnd type="none" w="med" len="med"/>
                    </a:lnL>
                    <a:lnR w="12700" cap="flat" cmpd="sng" algn="ctr">
                      <a:solidFill>
                        <a:srgbClr val="595F65"/>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595F65"/>
                      </a:solidFill>
                      <a:prstDash val="solid"/>
                      <a:round/>
                      <a:headEnd type="none" w="med" len="med"/>
                      <a:tailEnd type="none" w="med" len="med"/>
                    </a:lnB>
                    <a:solidFill>
                      <a:srgbClr val="2C333D"/>
                    </a:solidFill>
                  </a:tcPr>
                </a:tc>
                <a:tc>
                  <a:txBody>
                    <a:bodyPr/>
                    <a:lstStyle/>
                    <a:p>
                      <a:pPr marL="0" indent="0">
                        <a:lnSpc>
                          <a:spcPts val="1680"/>
                        </a:lnSpc>
                        <a:buNone/>
                      </a:pPr>
                      <a:r>
                        <a:rPr lang="en-US" sz="1200" b="1" dirty="0">
                          <a:solidFill>
                            <a:srgbClr val="F5A524"/>
                          </a:solidFill>
                          <a:latin typeface="IBM Plex Sans" pitchFamily="34" charset="0"/>
                          <a:ea typeface="IBM Plex Sans" pitchFamily="34" charset="-122"/>
                          <a:cs typeface="IBM Plex Sans" pitchFamily="34" charset="-120"/>
                        </a:rPr>
                        <a:t>Avance</a:t>
                      </a:r>
                      <a:endParaRPr lang="en-US" sz="1200" dirty="0">
                        <a:latin typeface="IBM Plex Sans" charset="0"/>
                        <a:ea typeface="IBM Plex Sans" charset="0"/>
                        <a:cs typeface="IBM Plex Sans" charset="0"/>
                      </a:endParaRPr>
                    </a:p>
                  </a:txBody>
                  <a:tcPr marL="53340" marR="53340" marT="53340" marB="53340">
                    <a:lnL w="12700" cap="flat" cmpd="sng" algn="ctr">
                      <a:solidFill>
                        <a:srgbClr val="595F65"/>
                      </a:solidFill>
                      <a:prstDash val="solid"/>
                      <a:round/>
                      <a:headEnd type="none" w="med" len="med"/>
                      <a:tailEnd type="none" w="med" len="med"/>
                    </a:lnL>
                    <a:lnR w="12700" cap="flat" cmpd="sng" algn="ctr">
                      <a:solidFill>
                        <a:srgbClr val="595F65"/>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595F65"/>
                      </a:solidFill>
                      <a:prstDash val="solid"/>
                      <a:round/>
                      <a:headEnd type="none" w="med" len="med"/>
                      <a:tailEnd type="none" w="med" len="med"/>
                    </a:lnB>
                    <a:solidFill>
                      <a:srgbClr val="2C333D"/>
                    </a:solidFill>
                  </a:tcPr>
                </a:tc>
                <a:tc>
                  <a:txBody>
                    <a:bodyPr/>
                    <a:lstStyle/>
                    <a:p>
                      <a:pPr marL="0" indent="0">
                        <a:lnSpc>
                          <a:spcPts val="1680"/>
                        </a:lnSpc>
                        <a:buNone/>
                      </a:pPr>
                      <a:r>
                        <a:rPr lang="en-US" sz="1200" b="1" dirty="0">
                          <a:solidFill>
                            <a:srgbClr val="F5A524"/>
                          </a:solidFill>
                          <a:latin typeface="IBM Plex Sans" pitchFamily="34" charset="0"/>
                          <a:ea typeface="IBM Plex Sans" pitchFamily="34" charset="-122"/>
                          <a:cs typeface="IBM Plex Sans" pitchFamily="34" charset="-120"/>
                        </a:rPr>
                        <a:t>Estado</a:t>
                      </a:r>
                      <a:endParaRPr lang="en-US" sz="1200" dirty="0">
                        <a:latin typeface="IBM Plex Sans" charset="0"/>
                        <a:ea typeface="IBM Plex Sans" charset="0"/>
                        <a:cs typeface="IBM Plex Sans" charset="0"/>
                      </a:endParaRPr>
                    </a:p>
                  </a:txBody>
                  <a:tcPr marL="53340" marR="53340" marT="53340" marB="53340">
                    <a:lnL w="12700" cap="flat" cmpd="sng" algn="ctr">
                      <a:solidFill>
                        <a:srgbClr val="595F65"/>
                      </a:solidFill>
                      <a:prstDash val="solid"/>
                      <a:round/>
                      <a:headEnd type="none" w="med" len="med"/>
                      <a:tailEnd type="none" w="med" len="med"/>
                    </a:lnL>
                    <a:lnR w="12700" cap="flat" cmpd="sng" algn="ctr">
                      <a:solidFill>
                        <a:srgbClr val="595F65"/>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595F65"/>
                      </a:solidFill>
                      <a:prstDash val="solid"/>
                      <a:round/>
                      <a:headEnd type="none" w="med" len="med"/>
                      <a:tailEnd type="none" w="med" len="med"/>
                    </a:lnB>
                    <a:solidFill>
                      <a:srgbClr val="2C333D"/>
                    </a:solidFill>
                  </a:tcPr>
                </a:tc>
                <a:tc>
                  <a:txBody>
                    <a:bodyPr/>
                    <a:lstStyle/>
                    <a:p>
                      <a:pPr marL="0" indent="0">
                        <a:lnSpc>
                          <a:spcPts val="1680"/>
                        </a:lnSpc>
                        <a:buNone/>
                      </a:pPr>
                      <a:r>
                        <a:rPr lang="en-US" sz="1200" b="1" dirty="0">
                          <a:solidFill>
                            <a:srgbClr val="F5A524"/>
                          </a:solidFill>
                          <a:latin typeface="IBM Plex Sans" pitchFamily="34" charset="0"/>
                          <a:ea typeface="IBM Plex Sans" pitchFamily="34" charset="-122"/>
                          <a:cs typeface="IBM Plex Sans" pitchFamily="34" charset="-120"/>
                        </a:rPr>
                        <a:t>Hito alcanzado o meta</a:t>
                      </a:r>
                      <a:endParaRPr lang="en-US" sz="1200" dirty="0">
                        <a:latin typeface="IBM Plex Sans" charset="0"/>
                        <a:ea typeface="IBM Plex Sans" charset="0"/>
                        <a:cs typeface="IBM Plex Sans" charset="0"/>
                      </a:endParaRPr>
                    </a:p>
                  </a:txBody>
                  <a:tcPr marL="53340" marR="53340" marT="53340" marB="53340">
                    <a:lnL w="12700" cap="flat" cmpd="sng" algn="ctr">
                      <a:solidFill>
                        <a:srgbClr val="595F65"/>
                      </a:solidFill>
                      <a:prstDash val="solid"/>
                      <a:round/>
                      <a:headEnd type="none" w="med" len="med"/>
                      <a:tailEnd type="none" w="med" len="med"/>
                    </a:lnL>
                    <a:lnR w="12700" cap="flat" cmpd="sng" algn="ctr">
                      <a:solidFill>
                        <a:srgbClr val="595F65"/>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595F65"/>
                      </a:solidFill>
                      <a:prstDash val="solid"/>
                      <a:round/>
                      <a:headEnd type="none" w="med" len="med"/>
                      <a:tailEnd type="none" w="med" len="med"/>
                    </a:lnB>
                    <a:solidFill>
                      <a:srgbClr val="2C333D"/>
                    </a:solidFill>
                  </a:tcPr>
                </a:tc>
                <a:extLst>
                  <a:ext uri="{0D108BD9-81ED-4DB2-BD59-A6C34878D82A}">
                    <a16:rowId xmlns:a16="http://schemas.microsoft.com/office/drawing/2014/main" val="10000"/>
                  </a:ext>
                </a:extLst>
              </a:tr>
              <a:tr h="545902">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1 Requerimientos y reglas</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595F65"/>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28/08 – 06/09</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595F65"/>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100%</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595F65"/>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Completado</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595F65"/>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Reglas de negocio definidas y validadas con el usuario</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595F65"/>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2 Arquitectura y datos</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07/09 – 20/09</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100%</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Completado</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Modelo de datos implementado</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extLst>
                  <a:ext uri="{0D108BD9-81ED-4DB2-BD59-A6C34878D82A}">
                    <a16:rowId xmlns:a16="http://schemas.microsoft.com/office/drawing/2014/main" val="10002"/>
                  </a:ext>
                </a:extLst>
              </a:tr>
              <a:tr h="545902">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3 Backend (API y reportes)</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21/09 – 11/10</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100%</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Completado</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Backend con login, transacciones y reportes operativo</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4 Módulo repartidor</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12/10 – 25/10</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100%</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Completado</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Módulo repartidor funcional</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5 Panel administrador</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26/10 – 08/11</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100%</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Completado</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Panel administrador funcional</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6 Despliegue en Cloudflare</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09/11 – 12/11</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100%</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Completado</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Interfaz publicada en internet</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extLst>
                  <a:ext uri="{0D108BD9-81ED-4DB2-BD59-A6C34878D82A}">
                    <a16:rowId xmlns:a16="http://schemas.microsoft.com/office/drawing/2014/main" val="10006"/>
                  </a:ext>
                </a:extLst>
              </a:tr>
              <a:tr h="545902">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7 Pruebas y ajustes</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13/11 – 22/11</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30%</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En curso</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Meta 22/11: pruebas de cálculos financieros completadas</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extLst>
                  <a:ext uri="{0D108BD9-81ED-4DB2-BD59-A6C34878D82A}">
                    <a16:rowId xmlns:a16="http://schemas.microsoft.com/office/drawing/2014/main" val="10007"/>
                  </a:ext>
                </a:extLst>
              </a:tr>
              <a:tr h="332581">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8 Documentación y cierre</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23/11 – 28/11</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25%</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En curso</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Meta 28/11: informe final y README</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extLst>
                  <a:ext uri="{0D108BD9-81ED-4DB2-BD59-A6C34878D82A}">
                    <a16:rowId xmlns:a16="http://schemas.microsoft.com/office/drawing/2014/main" val="10008"/>
                  </a:ext>
                </a:extLst>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Plataforma de Gestión Financiera · Avance Fase 2</a:t>
            </a:r>
            <a:endParaRPr lang="en-US" sz="1200" dirty="0"/>
          </a:p>
        </p:txBody>
      </p:sp>
      <p:sp>
        <p:nvSpPr>
          <p:cNvPr id="6" name="Text 3"/>
          <p:cNvSpPr/>
          <p:nvPr/>
        </p:nvSpPr>
        <p:spPr>
          <a:xfrm>
            <a:off x="9804400" y="6238280"/>
            <a:ext cx="1574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3ACB8"/>
                </a:solidFill>
                <a:latin typeface="IBM Plex Sans" pitchFamily="34" charset="0"/>
                <a:ea typeface="IBM Plex Sans" pitchFamily="34" charset="-122"/>
                <a:cs typeface="IBM Plex Sans" pitchFamily="34" charset="-120"/>
              </a:rPr>
              <a:t>06 / 16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71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5A524"/>
                </a:solidFill>
                <a:latin typeface="IBM Plex Sans" pitchFamily="34" charset="0"/>
                <a:ea typeface="IBM Plex Sans" pitchFamily="34" charset="-122"/>
                <a:cs typeface="IBM Plex Sans" pitchFamily="34" charset="-120"/>
              </a:rPr>
              <a:t>ARQUITECTURA</a:t>
            </a:r>
            <a:endParaRPr lang="en-US" sz="1200" dirty="0"/>
          </a:p>
        </p:txBody>
      </p:sp>
      <p:sp>
        <p:nvSpPr>
          <p:cNvPr id="3" name="Text 1"/>
          <p:cNvSpPr>
            <a:spLocks noGrp="1"/>
          </p:cNvSpPr>
          <p:nvPr>
            <p:ph type="title"/>
          </p:nvPr>
        </p:nvSpPr>
        <p:spPr>
          <a:xfrm>
            <a:off x="812800" y="873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DE9E0"/>
                </a:solidFill>
                <a:latin typeface="Oswald" pitchFamily="34" charset="0"/>
                <a:ea typeface="Oswald" pitchFamily="34" charset="-122"/>
                <a:cs typeface="Oswald" pitchFamily="34" charset="-120"/>
              </a:rPr>
              <a:t>Arquitectura actual</a:t>
            </a:r>
            <a:endParaRPr lang="en-US" sz="3200" dirty="0"/>
          </a:p>
        </p:txBody>
      </p:sp>
      <p:sp>
        <p:nvSpPr>
          <p:cNvPr id="4" name="Shape 2"/>
          <p:cNvSpPr/>
          <p:nvPr/>
        </p:nvSpPr>
        <p:spPr>
          <a:xfrm>
            <a:off x="815975" y="1829296"/>
            <a:ext cx="2063750" cy="1403152"/>
          </a:xfrm>
          <a:prstGeom prst="roundRect">
            <a:avLst>
              <a:gd name="adj" fmla="val 7015"/>
            </a:avLst>
          </a:prstGeom>
          <a:solidFill>
            <a:srgbClr val="1E242C"/>
          </a:solidFill>
          <a:ln w="6350">
            <a:solidFill>
              <a:srgbClr val="2C333D"/>
            </a:solidFill>
            <a:prstDash val="solid"/>
          </a:ln>
        </p:spPr>
      </p:sp>
      <p:sp>
        <p:nvSpPr>
          <p:cNvPr id="5" name="Text 3"/>
          <p:cNvSpPr/>
          <p:nvPr/>
        </p:nvSpPr>
        <p:spPr>
          <a:xfrm>
            <a:off x="1022350" y="2035671"/>
            <a:ext cx="170180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Usuario</a:t>
            </a:r>
            <a:endParaRPr lang="en-US" sz="1800" dirty="0"/>
          </a:p>
        </p:txBody>
      </p:sp>
      <p:sp>
        <p:nvSpPr>
          <p:cNvPr id="6" name="Text 4"/>
          <p:cNvSpPr/>
          <p:nvPr/>
        </p:nvSpPr>
        <p:spPr>
          <a:xfrm>
            <a:off x="1022350" y="2386112"/>
            <a:ext cx="170180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Repartidor y administrador, desde celular o computador</a:t>
            </a:r>
            <a:endParaRPr lang="en-US" sz="1200" dirty="0"/>
          </a:p>
        </p:txBody>
      </p:sp>
      <p:pic>
        <p:nvPicPr>
          <p:cNvPr id="7" name="Image 0" descr="arrow-right"/>
          <p:cNvPicPr>
            <a:picLocks noChangeAspect="1"/>
          </p:cNvPicPr>
          <p:nvPr/>
        </p:nvPicPr>
        <p:blipFill>
          <a:blip r:embed="rId3"/>
          <a:srcRect/>
          <a:stretch/>
        </p:blipFill>
        <p:spPr>
          <a:xfrm>
            <a:off x="3035300" y="2416572"/>
            <a:ext cx="457200" cy="228600"/>
          </a:xfrm>
          <a:prstGeom prst="rect">
            <a:avLst/>
          </a:prstGeom>
        </p:spPr>
      </p:pic>
      <p:sp>
        <p:nvSpPr>
          <p:cNvPr id="8" name="Shape 5"/>
          <p:cNvSpPr/>
          <p:nvPr/>
        </p:nvSpPr>
        <p:spPr>
          <a:xfrm>
            <a:off x="3648075" y="1577876"/>
            <a:ext cx="2063750" cy="1905992"/>
          </a:xfrm>
          <a:prstGeom prst="roundRect">
            <a:avLst>
              <a:gd name="adj" fmla="val 5164"/>
            </a:avLst>
          </a:prstGeom>
          <a:solidFill>
            <a:srgbClr val="1E242C"/>
          </a:solidFill>
          <a:ln w="6350">
            <a:solidFill>
              <a:srgbClr val="2C333D"/>
            </a:solidFill>
            <a:prstDash val="solid"/>
          </a:ln>
        </p:spPr>
      </p:sp>
      <p:sp>
        <p:nvSpPr>
          <p:cNvPr id="9" name="Text 6"/>
          <p:cNvSpPr/>
          <p:nvPr/>
        </p:nvSpPr>
        <p:spPr>
          <a:xfrm>
            <a:off x="3854450" y="1784251"/>
            <a:ext cx="170180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Frontend</a:t>
            </a:r>
            <a:endParaRPr lang="en-US" sz="1800" dirty="0"/>
          </a:p>
        </p:txBody>
      </p:sp>
      <p:sp>
        <p:nvSpPr>
          <p:cNvPr id="10" name="Text 7"/>
          <p:cNvSpPr/>
          <p:nvPr/>
        </p:nvSpPr>
        <p:spPr>
          <a:xfrm>
            <a:off x="3854450" y="2134691"/>
            <a:ext cx="170180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React + Vite, React Router, Recharts y Axios</a:t>
            </a:r>
            <a:endParaRPr lang="en-US" sz="1200" dirty="0"/>
          </a:p>
        </p:txBody>
      </p:sp>
      <p:sp>
        <p:nvSpPr>
          <p:cNvPr id="11" name="Text 8"/>
          <p:cNvSpPr/>
          <p:nvPr/>
        </p:nvSpPr>
        <p:spPr>
          <a:xfrm>
            <a:off x="3854450" y="2850852"/>
            <a:ext cx="17018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A8F0"/>
                </a:solidFill>
                <a:latin typeface="IBM Plex Sans" pitchFamily="34" charset="0"/>
                <a:ea typeface="IBM Plex Sans" pitchFamily="34" charset="-122"/>
                <a:cs typeface="IBM Plex Sans" pitchFamily="34" charset="-120"/>
              </a:rPr>
              <a:t>Cloudflare, desplegado desde GitHub</a:t>
            </a:r>
            <a:endParaRPr lang="en-US" sz="1200" dirty="0"/>
          </a:p>
        </p:txBody>
      </p:sp>
      <p:pic>
        <p:nvPicPr>
          <p:cNvPr id="12" name="Image 1" descr="arrow-right"/>
          <p:cNvPicPr>
            <a:picLocks noChangeAspect="1"/>
          </p:cNvPicPr>
          <p:nvPr/>
        </p:nvPicPr>
        <p:blipFill>
          <a:blip r:embed="rId3"/>
          <a:srcRect/>
          <a:stretch/>
        </p:blipFill>
        <p:spPr>
          <a:xfrm>
            <a:off x="5867400" y="2416572"/>
            <a:ext cx="457200" cy="228600"/>
          </a:xfrm>
          <a:prstGeom prst="rect">
            <a:avLst/>
          </a:prstGeom>
        </p:spPr>
      </p:pic>
      <p:sp>
        <p:nvSpPr>
          <p:cNvPr id="13" name="Shape 9"/>
          <p:cNvSpPr/>
          <p:nvPr/>
        </p:nvSpPr>
        <p:spPr>
          <a:xfrm>
            <a:off x="6480175" y="1684536"/>
            <a:ext cx="2063750" cy="1692672"/>
          </a:xfrm>
          <a:prstGeom prst="roundRect">
            <a:avLst>
              <a:gd name="adj" fmla="val 5815"/>
            </a:avLst>
          </a:prstGeom>
          <a:solidFill>
            <a:srgbClr val="1E242C"/>
          </a:solidFill>
          <a:ln w="6350">
            <a:solidFill>
              <a:srgbClr val="2C333D"/>
            </a:solidFill>
            <a:prstDash val="solid"/>
          </a:ln>
        </p:spPr>
      </p:sp>
      <p:sp>
        <p:nvSpPr>
          <p:cNvPr id="14" name="Text 10"/>
          <p:cNvSpPr/>
          <p:nvPr/>
        </p:nvSpPr>
        <p:spPr>
          <a:xfrm>
            <a:off x="6686550" y="1890911"/>
            <a:ext cx="170180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API REST</a:t>
            </a:r>
            <a:endParaRPr lang="en-US" sz="1800" dirty="0"/>
          </a:p>
        </p:txBody>
      </p:sp>
      <p:sp>
        <p:nvSpPr>
          <p:cNvPr id="15" name="Text 11"/>
          <p:cNvSpPr/>
          <p:nvPr/>
        </p:nvSpPr>
        <p:spPr>
          <a:xfrm>
            <a:off x="6686550" y="2241352"/>
            <a:ext cx="17018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Node.js + Express, JWT y bcrypt, 17 endpoints</a:t>
            </a:r>
            <a:endParaRPr lang="en-US" sz="1200" dirty="0"/>
          </a:p>
        </p:txBody>
      </p:sp>
      <p:sp>
        <p:nvSpPr>
          <p:cNvPr id="16" name="Text 12"/>
          <p:cNvSpPr/>
          <p:nvPr/>
        </p:nvSpPr>
        <p:spPr>
          <a:xfrm>
            <a:off x="6686550" y="2744192"/>
            <a:ext cx="17018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Equipo local, puerto 3000</a:t>
            </a:r>
            <a:endParaRPr lang="en-US" sz="1200" dirty="0"/>
          </a:p>
        </p:txBody>
      </p:sp>
      <p:pic>
        <p:nvPicPr>
          <p:cNvPr id="17" name="Image 2" descr="arrow-right"/>
          <p:cNvPicPr>
            <a:picLocks noChangeAspect="1"/>
          </p:cNvPicPr>
          <p:nvPr/>
        </p:nvPicPr>
        <p:blipFill>
          <a:blip r:embed="rId3"/>
          <a:srcRect/>
          <a:stretch/>
        </p:blipFill>
        <p:spPr>
          <a:xfrm>
            <a:off x="8699500" y="2416572"/>
            <a:ext cx="457200" cy="228600"/>
          </a:xfrm>
          <a:prstGeom prst="rect">
            <a:avLst/>
          </a:prstGeom>
        </p:spPr>
      </p:pic>
      <p:sp>
        <p:nvSpPr>
          <p:cNvPr id="18" name="Shape 13"/>
          <p:cNvSpPr/>
          <p:nvPr/>
        </p:nvSpPr>
        <p:spPr>
          <a:xfrm>
            <a:off x="9312275" y="1684536"/>
            <a:ext cx="2063750" cy="1692672"/>
          </a:xfrm>
          <a:prstGeom prst="roundRect">
            <a:avLst>
              <a:gd name="adj" fmla="val 5815"/>
            </a:avLst>
          </a:prstGeom>
          <a:solidFill>
            <a:srgbClr val="1E242C"/>
          </a:solidFill>
          <a:ln w="6350">
            <a:solidFill>
              <a:srgbClr val="2C333D"/>
            </a:solidFill>
            <a:prstDash val="solid"/>
          </a:ln>
        </p:spPr>
      </p:sp>
      <p:sp>
        <p:nvSpPr>
          <p:cNvPr id="19" name="Text 14"/>
          <p:cNvSpPr/>
          <p:nvPr/>
        </p:nvSpPr>
        <p:spPr>
          <a:xfrm>
            <a:off x="9518650" y="1890911"/>
            <a:ext cx="170180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Base de datos</a:t>
            </a:r>
            <a:endParaRPr lang="en-US" sz="1800" dirty="0"/>
          </a:p>
        </p:txBody>
      </p:sp>
      <p:sp>
        <p:nvSpPr>
          <p:cNvPr id="20" name="Text 15"/>
          <p:cNvSpPr/>
          <p:nvPr/>
        </p:nvSpPr>
        <p:spPr>
          <a:xfrm>
            <a:off x="9518650" y="2241352"/>
            <a:ext cx="170180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PostgreSQL con Prisma 7 y adapter-pg, 10 migraciones</a:t>
            </a:r>
            <a:endParaRPr lang="en-US" sz="1200" dirty="0"/>
          </a:p>
        </p:txBody>
      </p:sp>
      <p:sp>
        <p:nvSpPr>
          <p:cNvPr id="21" name="Text 16"/>
          <p:cNvSpPr/>
          <p:nvPr/>
        </p:nvSpPr>
        <p:spPr>
          <a:xfrm>
            <a:off x="9518650" y="2957513"/>
            <a:ext cx="170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Equipo local</a:t>
            </a:r>
            <a:endParaRPr lang="en-US" sz="1200" dirty="0"/>
          </a:p>
        </p:txBody>
      </p:sp>
      <p:sp>
        <p:nvSpPr>
          <p:cNvPr id="22" name="Shape 17"/>
          <p:cNvSpPr/>
          <p:nvPr/>
        </p:nvSpPr>
        <p:spPr>
          <a:xfrm>
            <a:off x="815975" y="3744218"/>
            <a:ext cx="5175250" cy="1509713"/>
          </a:xfrm>
          <a:prstGeom prst="roundRect">
            <a:avLst>
              <a:gd name="adj" fmla="val 6519"/>
            </a:avLst>
          </a:prstGeom>
          <a:solidFill>
            <a:srgbClr val="1E242C"/>
          </a:solidFill>
          <a:ln w="6350">
            <a:solidFill>
              <a:srgbClr val="2C333D"/>
            </a:solidFill>
            <a:prstDash val="solid"/>
          </a:ln>
        </p:spPr>
      </p:sp>
      <p:sp>
        <p:nvSpPr>
          <p:cNvPr id="23" name="Text 18"/>
          <p:cNvSpPr/>
          <p:nvPr/>
        </p:nvSpPr>
        <p:spPr>
          <a:xfrm>
            <a:off x="1022350" y="3950593"/>
            <a:ext cx="490537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Acceso con Google</a:t>
            </a:r>
            <a:endParaRPr lang="en-US" sz="1800" dirty="0"/>
          </a:p>
        </p:txBody>
      </p:sp>
      <p:sp>
        <p:nvSpPr>
          <p:cNvPr id="24" name="Text 19"/>
          <p:cNvSpPr/>
          <p:nvPr/>
        </p:nvSpPr>
        <p:spPr>
          <a:xfrm>
            <a:off x="1022350" y="4301034"/>
            <a:ext cx="4905375"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DE9E0"/>
                </a:solidFill>
                <a:latin typeface="IBM Plex Sans" pitchFamily="34" charset="0"/>
                <a:ea typeface="IBM Plex Sans" pitchFamily="34" charset="-122"/>
                <a:cs typeface="IBM Plex Sans" pitchFamily="34" charset="-120"/>
              </a:rPr>
              <a:t>La API verifica el token de Google con google-auth-library y aplica el mismo control de roles y estados.</a:t>
            </a:r>
            <a:endParaRPr lang="en-US" sz="1400" dirty="0"/>
          </a:p>
        </p:txBody>
      </p:sp>
      <p:sp>
        <p:nvSpPr>
          <p:cNvPr id="25" name="Shape 20"/>
          <p:cNvSpPr/>
          <p:nvPr/>
        </p:nvSpPr>
        <p:spPr>
          <a:xfrm>
            <a:off x="6200775" y="3744218"/>
            <a:ext cx="5175250" cy="1509713"/>
          </a:xfrm>
          <a:prstGeom prst="roundRect">
            <a:avLst>
              <a:gd name="adj" fmla="val 6519"/>
            </a:avLst>
          </a:prstGeom>
          <a:solidFill>
            <a:srgbClr val="1E242C"/>
          </a:solidFill>
          <a:ln w="6350">
            <a:solidFill>
              <a:srgbClr val="2C333D"/>
            </a:solidFill>
            <a:prstDash val="solid"/>
          </a:ln>
        </p:spPr>
      </p:sp>
      <p:sp>
        <p:nvSpPr>
          <p:cNvPr id="26" name="Text 21"/>
          <p:cNvSpPr/>
          <p:nvPr/>
        </p:nvSpPr>
        <p:spPr>
          <a:xfrm>
            <a:off x="6407150" y="3950593"/>
            <a:ext cx="490537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Qué corre hoy</a:t>
            </a:r>
            <a:endParaRPr lang="en-US" sz="1800" dirty="0"/>
          </a:p>
        </p:txBody>
      </p:sp>
      <p:sp>
        <p:nvSpPr>
          <p:cNvPr id="27" name="Text 22"/>
          <p:cNvSpPr/>
          <p:nvPr/>
        </p:nvSpPr>
        <p:spPr>
          <a:xfrm>
            <a:off x="6407150" y="4301034"/>
            <a:ext cx="4905375"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DE9E0"/>
                </a:solidFill>
                <a:latin typeface="IBM Plex Sans" pitchFamily="34" charset="0"/>
                <a:ea typeface="IBM Plex Sans" pitchFamily="34" charset="-122"/>
                <a:cs typeface="IBM Plex Sans" pitchFamily="34" charset="-120"/>
              </a:rPr>
              <a:t>Interfaz en Cloudflare; API y base de datos en el equipo local. No se usa Docker, así que la demo en vivo requiere el servidor local encendido.</a:t>
            </a:r>
            <a:endParaRPr lang="en-US" sz="1400" dirty="0"/>
          </a:p>
        </p:txBody>
      </p:sp>
      <p:sp>
        <p:nvSpPr>
          <p:cNvPr id="28" name="Text 2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Plataforma de Gestión Financiera · Avance Fase 2</a:t>
            </a:r>
            <a:endParaRPr lang="en-US" sz="1200" dirty="0"/>
          </a:p>
        </p:txBody>
      </p:sp>
      <p:sp>
        <p:nvSpPr>
          <p:cNvPr id="29" name="Text 24"/>
          <p:cNvSpPr/>
          <p:nvPr/>
        </p:nvSpPr>
        <p:spPr>
          <a:xfrm>
            <a:off x="9804400" y="6238280"/>
            <a:ext cx="1574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3ACB8"/>
                </a:solidFill>
                <a:latin typeface="IBM Plex Sans" pitchFamily="34" charset="0"/>
                <a:ea typeface="IBM Plex Sans" pitchFamily="34" charset="-122"/>
                <a:cs typeface="IBM Plex Sans" pitchFamily="34" charset="-120"/>
              </a:rPr>
              <a:t>07 / 16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71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5A524"/>
                </a:solidFill>
                <a:latin typeface="IBM Plex Sans" pitchFamily="34" charset="0"/>
                <a:ea typeface="IBM Plex Sans" pitchFamily="34" charset="-122"/>
                <a:cs typeface="IBM Plex Sans" pitchFamily="34" charset="-120"/>
              </a:rPr>
              <a:t>BASE DE DATOS</a:t>
            </a:r>
            <a:endParaRPr lang="en-US" sz="1200" dirty="0"/>
          </a:p>
        </p:txBody>
      </p:sp>
      <p:sp>
        <p:nvSpPr>
          <p:cNvPr id="3" name="Text 1"/>
          <p:cNvSpPr>
            <a:spLocks noGrp="1"/>
          </p:cNvSpPr>
          <p:nvPr>
            <p:ph type="title"/>
          </p:nvPr>
        </p:nvSpPr>
        <p:spPr>
          <a:xfrm>
            <a:off x="812800" y="873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DE9E0"/>
                </a:solidFill>
                <a:latin typeface="Oswald" pitchFamily="34" charset="0"/>
                <a:ea typeface="Oswald" pitchFamily="34" charset="-122"/>
                <a:cs typeface="Oswald" pitchFamily="34" charset="-120"/>
              </a:rPr>
              <a:t>Modelo de datos implementado</a:t>
            </a:r>
            <a:endParaRPr lang="en-US" sz="3200" dirty="0"/>
          </a:p>
        </p:txBody>
      </p:sp>
      <p:sp>
        <p:nvSpPr>
          <p:cNvPr id="4" name="Shape 2"/>
          <p:cNvSpPr/>
          <p:nvPr/>
        </p:nvSpPr>
        <p:spPr>
          <a:xfrm>
            <a:off x="815975" y="1791196"/>
            <a:ext cx="2612827" cy="2256433"/>
          </a:xfrm>
          <a:prstGeom prst="roundRect">
            <a:avLst>
              <a:gd name="adj" fmla="val 4362"/>
            </a:avLst>
          </a:prstGeom>
          <a:solidFill>
            <a:srgbClr val="1E242C"/>
          </a:solidFill>
          <a:ln w="6350">
            <a:solidFill>
              <a:srgbClr val="2C333D"/>
            </a:solidFill>
            <a:prstDash val="solid"/>
          </a:ln>
        </p:spPr>
      </p:sp>
      <p:sp>
        <p:nvSpPr>
          <p:cNvPr id="5" name="Text 3"/>
          <p:cNvSpPr/>
          <p:nvPr/>
        </p:nvSpPr>
        <p:spPr>
          <a:xfrm>
            <a:off x="1022350" y="1997571"/>
            <a:ext cx="226607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Usuario</a:t>
            </a:r>
            <a:endParaRPr lang="en-US" sz="1800" dirty="0"/>
          </a:p>
        </p:txBody>
      </p:sp>
      <p:sp>
        <p:nvSpPr>
          <p:cNvPr id="6" name="Text 4"/>
          <p:cNvSpPr/>
          <p:nvPr/>
        </p:nvSpPr>
        <p:spPr>
          <a:xfrm>
            <a:off x="1022350" y="2348012"/>
            <a:ext cx="2266079" cy="15186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id, nombre</a:t>
            </a:r>
            <a:endParaRPr lang="en-US" sz="1200" dirty="0"/>
          </a:p>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email (único)</a:t>
            </a:r>
            <a:endParaRPr lang="en-US" sz="1200" dirty="0"/>
          </a:p>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password (opcional)</a:t>
            </a:r>
            <a:endParaRPr lang="en-US" sz="1200" dirty="0"/>
          </a:p>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googleId (opcional)</a:t>
            </a:r>
            <a:endParaRPr lang="en-US" sz="1200" dirty="0"/>
          </a:p>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rol: ADMIN | REPARTIDOR</a:t>
            </a:r>
            <a:endParaRPr lang="en-US" sz="1200" dirty="0"/>
          </a:p>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estado: PENDIENTE | ACTIVO | RECHAZADO</a:t>
            </a:r>
            <a:endParaRPr lang="en-US" sz="1200" dirty="0"/>
          </a:p>
        </p:txBody>
      </p:sp>
      <p:sp>
        <p:nvSpPr>
          <p:cNvPr id="7" name="Text 5"/>
          <p:cNvSpPr/>
          <p:nvPr/>
        </p:nvSpPr>
        <p:spPr>
          <a:xfrm>
            <a:off x="3685113" y="2673052"/>
            <a:ext cx="408027"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F5A524"/>
                </a:solidFill>
                <a:latin typeface="IBM Plex Sans" pitchFamily="34" charset="0"/>
                <a:ea typeface="IBM Plex Sans" pitchFamily="34" charset="-122"/>
                <a:cs typeface="IBM Plex Sans" pitchFamily="34" charset="-120"/>
              </a:rPr>
              <a:t>1 a 1</a:t>
            </a:r>
            <a:endParaRPr lang="en-US" sz="1200" dirty="0"/>
          </a:p>
        </p:txBody>
      </p:sp>
      <p:pic>
        <p:nvPicPr>
          <p:cNvPr id="8" name="Image 0" descr="arrow-right"/>
          <p:cNvPicPr>
            <a:picLocks noChangeAspect="1"/>
          </p:cNvPicPr>
          <p:nvPr/>
        </p:nvPicPr>
        <p:blipFill>
          <a:blip r:embed="rId3"/>
          <a:srcRect/>
          <a:stretch/>
        </p:blipFill>
        <p:spPr>
          <a:xfrm>
            <a:off x="3660577" y="2937173"/>
            <a:ext cx="457200" cy="228600"/>
          </a:xfrm>
          <a:prstGeom prst="rect">
            <a:avLst/>
          </a:prstGeom>
        </p:spPr>
      </p:pic>
      <p:sp>
        <p:nvSpPr>
          <p:cNvPr id="9" name="Shape 6"/>
          <p:cNvSpPr/>
          <p:nvPr/>
        </p:nvSpPr>
        <p:spPr>
          <a:xfrm>
            <a:off x="4349552" y="2004516"/>
            <a:ext cx="2612827" cy="1829792"/>
          </a:xfrm>
          <a:prstGeom prst="roundRect">
            <a:avLst>
              <a:gd name="adj" fmla="val 5379"/>
            </a:avLst>
          </a:prstGeom>
          <a:solidFill>
            <a:srgbClr val="1E242C"/>
          </a:solidFill>
          <a:ln w="6350">
            <a:solidFill>
              <a:srgbClr val="2C333D"/>
            </a:solidFill>
            <a:prstDash val="solid"/>
          </a:ln>
        </p:spPr>
      </p:sp>
      <p:sp>
        <p:nvSpPr>
          <p:cNvPr id="10" name="Text 7"/>
          <p:cNvSpPr/>
          <p:nvPr/>
        </p:nvSpPr>
        <p:spPr>
          <a:xfrm>
            <a:off x="4555927" y="2210891"/>
            <a:ext cx="226607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Repartidor</a:t>
            </a:r>
            <a:endParaRPr lang="en-US" sz="1800" dirty="0"/>
          </a:p>
        </p:txBody>
      </p:sp>
      <p:sp>
        <p:nvSpPr>
          <p:cNvPr id="11" name="Text 8"/>
          <p:cNvSpPr/>
          <p:nvPr/>
        </p:nvSpPr>
        <p:spPr>
          <a:xfrm>
            <a:off x="4555927" y="2561332"/>
            <a:ext cx="2266079"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id</a:t>
            </a:r>
            <a:endParaRPr lang="en-US" sz="1200" dirty="0"/>
          </a:p>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usuarioId (único, FK)</a:t>
            </a:r>
            <a:endParaRPr lang="en-US" sz="1200" dirty="0"/>
          </a:p>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telefono (opcional)</a:t>
            </a:r>
            <a:endParaRPr lang="en-US" sz="1200" dirty="0"/>
          </a:p>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vehiculo (opcional)</a:t>
            </a:r>
            <a:endParaRPr lang="en-US" sz="1200" dirty="0"/>
          </a:p>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creadoEn</a:t>
            </a:r>
            <a:endParaRPr lang="en-US" sz="1200" dirty="0"/>
          </a:p>
        </p:txBody>
      </p:sp>
      <p:sp>
        <p:nvSpPr>
          <p:cNvPr id="12" name="Text 9"/>
          <p:cNvSpPr/>
          <p:nvPr/>
        </p:nvSpPr>
        <p:spPr>
          <a:xfrm>
            <a:off x="7207845" y="2673052"/>
            <a:ext cx="429816"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F5A524"/>
                </a:solidFill>
                <a:latin typeface="IBM Plex Sans" pitchFamily="34" charset="0"/>
                <a:ea typeface="IBM Plex Sans" pitchFamily="34" charset="-122"/>
                <a:cs typeface="IBM Plex Sans" pitchFamily="34" charset="-120"/>
              </a:rPr>
              <a:t>1 a N</a:t>
            </a:r>
            <a:endParaRPr lang="en-US" sz="1200" dirty="0"/>
          </a:p>
        </p:txBody>
      </p:sp>
      <p:pic>
        <p:nvPicPr>
          <p:cNvPr id="13" name="Image 1" descr="arrow-right"/>
          <p:cNvPicPr>
            <a:picLocks noChangeAspect="1"/>
          </p:cNvPicPr>
          <p:nvPr/>
        </p:nvPicPr>
        <p:blipFill>
          <a:blip r:embed="rId3"/>
          <a:srcRect/>
          <a:stretch/>
        </p:blipFill>
        <p:spPr>
          <a:xfrm>
            <a:off x="7194153" y="2937173"/>
            <a:ext cx="457200" cy="228600"/>
          </a:xfrm>
          <a:prstGeom prst="rect">
            <a:avLst/>
          </a:prstGeom>
        </p:spPr>
      </p:pic>
      <p:sp>
        <p:nvSpPr>
          <p:cNvPr id="14" name="Shape 10"/>
          <p:cNvSpPr/>
          <p:nvPr/>
        </p:nvSpPr>
        <p:spPr>
          <a:xfrm>
            <a:off x="7883128" y="1577876"/>
            <a:ext cx="3492897" cy="2683073"/>
          </a:xfrm>
          <a:prstGeom prst="roundRect">
            <a:avLst>
              <a:gd name="adj" fmla="val 3668"/>
            </a:avLst>
          </a:prstGeom>
          <a:solidFill>
            <a:srgbClr val="1E242C"/>
          </a:solidFill>
          <a:ln w="6350">
            <a:solidFill>
              <a:srgbClr val="2C333D"/>
            </a:solidFill>
            <a:prstDash val="solid"/>
          </a:ln>
        </p:spPr>
      </p:sp>
      <p:sp>
        <p:nvSpPr>
          <p:cNvPr id="15" name="Text 11"/>
          <p:cNvSpPr/>
          <p:nvPr/>
        </p:nvSpPr>
        <p:spPr>
          <a:xfrm>
            <a:off x="8089503" y="1784251"/>
            <a:ext cx="3172551"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Transacción</a:t>
            </a:r>
            <a:endParaRPr lang="en-US" sz="1800" dirty="0"/>
          </a:p>
        </p:txBody>
      </p:sp>
      <p:sp>
        <p:nvSpPr>
          <p:cNvPr id="16" name="Text 12"/>
          <p:cNvSpPr/>
          <p:nvPr/>
        </p:nvSpPr>
        <p:spPr>
          <a:xfrm>
            <a:off x="8089503" y="2134691"/>
            <a:ext cx="3172551" cy="19452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id, repartidorId (FK), fecha</a:t>
            </a:r>
            <a:endParaRPr lang="en-US" sz="1200" dirty="0"/>
          </a:p>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tipo: INGRESO | GASTO</a:t>
            </a:r>
            <a:endParaRPr lang="en-US" sz="1200" dirty="0"/>
          </a:p>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monto, montoLiquido, montoIva</a:t>
            </a:r>
            <a:endParaRPr lang="en-US" sz="1200" dirty="0"/>
          </a:p>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cantidadPaquetes, paquetesFallidos</a:t>
            </a:r>
            <a:endParaRPr lang="en-US" sz="1200" dirty="0"/>
          </a:p>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paquetesSobredimensionados</a:t>
            </a:r>
            <a:endParaRPr lang="en-US" sz="1200" dirty="0"/>
          </a:p>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paquetesTotalSalida, valorPaquete</a:t>
            </a:r>
            <a:endParaRPr lang="en-US" sz="1200" dirty="0"/>
          </a:p>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montoSinDescuento, descuentoAplicado</a:t>
            </a:r>
            <a:endParaRPr lang="en-US" sz="1200" dirty="0"/>
          </a:p>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categoriaIngreso, categoriaGasto</a:t>
            </a:r>
            <a:endParaRPr lang="en-US" sz="1200" dirty="0"/>
          </a:p>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descripcion, observaciones</a:t>
            </a:r>
            <a:endParaRPr lang="en-US" sz="1200" dirty="0"/>
          </a:p>
        </p:txBody>
      </p:sp>
      <p:sp>
        <p:nvSpPr>
          <p:cNvPr id="17" name="Text 13"/>
          <p:cNvSpPr/>
          <p:nvPr/>
        </p:nvSpPr>
        <p:spPr>
          <a:xfrm>
            <a:off x="812800" y="4518124"/>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3ACB8"/>
                </a:solidFill>
                <a:latin typeface="IBM Plex Sans" pitchFamily="34" charset="0"/>
                <a:ea typeface="IBM Plex Sans" pitchFamily="34" charset="-122"/>
                <a:cs typeface="IBM Plex Sans" pitchFamily="34" charset="-120"/>
              </a:rPr>
              <a:t>3 modelos y 3 enums · 10 migraciones versionadas · montos en Decimal(10,2) · seed con la cuenta administradora</a:t>
            </a:r>
            <a:endParaRPr lang="en-US" sz="1400" dirty="0"/>
          </a:p>
        </p:txBody>
      </p:sp>
      <p:sp>
        <p:nvSpPr>
          <p:cNvPr id="18"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Plataforma de Gestión Financiera · Avance Fase 2</a:t>
            </a:r>
            <a:endParaRPr lang="en-US" sz="1200" dirty="0"/>
          </a:p>
        </p:txBody>
      </p:sp>
      <p:sp>
        <p:nvSpPr>
          <p:cNvPr id="19" name="Text 15"/>
          <p:cNvSpPr/>
          <p:nvPr/>
        </p:nvSpPr>
        <p:spPr>
          <a:xfrm>
            <a:off x="9804400" y="6238280"/>
            <a:ext cx="1574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3ACB8"/>
                </a:solidFill>
                <a:latin typeface="IBM Plex Sans" pitchFamily="34" charset="0"/>
                <a:ea typeface="IBM Plex Sans" pitchFamily="34" charset="-122"/>
                <a:cs typeface="IBM Plex Sans" pitchFamily="34" charset="-120"/>
              </a:rPr>
              <a:t>08 / 16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71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27707"/>
          </a:xfrm>
          <a:prstGeom prst="rect">
            <a:avLst/>
          </a:prstGeom>
          <a:noFill/>
          <a:ln/>
        </p:spPr>
        <p:txBody>
          <a:bodyPr wrap="square" lIns="0" tIns="0" rIns="0" bIns="0" rtlCol="0" anchor="t">
            <a:normAutofit/>
          </a:bodyPr>
          <a:lstStyle/>
          <a:p>
            <a:pPr marL="0" indent="0" algn="l">
              <a:lnSpc>
                <a:spcPts val="1622"/>
              </a:lnSpc>
              <a:buNone/>
            </a:pPr>
            <a:r>
              <a:rPr lang="en-US" sz="1159" b="1" kern="0" spc="200" dirty="0">
                <a:solidFill>
                  <a:srgbClr val="F5A524"/>
                </a:solidFill>
                <a:latin typeface="IBM Plex Sans" pitchFamily="34" charset="0"/>
                <a:ea typeface="IBM Plex Sans" pitchFamily="34" charset="-122"/>
                <a:cs typeface="IBM Plex Sans" pitchFamily="34" charset="-120"/>
              </a:rPr>
              <a:t>FUNCIONALIDADES</a:t>
            </a:r>
            <a:endParaRPr lang="en-US" sz="1159" dirty="0"/>
          </a:p>
        </p:txBody>
      </p:sp>
      <p:sp>
        <p:nvSpPr>
          <p:cNvPr id="3" name="Text 1"/>
          <p:cNvSpPr>
            <a:spLocks noGrp="1"/>
          </p:cNvSpPr>
          <p:nvPr>
            <p:ph type="title"/>
          </p:nvPr>
        </p:nvSpPr>
        <p:spPr>
          <a:xfrm>
            <a:off x="812800" y="862707"/>
            <a:ext cx="10883392" cy="449163"/>
          </a:xfrm>
          <a:prstGeom prst="rect">
            <a:avLst/>
          </a:prstGeom>
          <a:noFill/>
          <a:ln/>
        </p:spPr>
        <p:txBody>
          <a:bodyPr wrap="square" lIns="0" tIns="0" rIns="0" bIns="0" rtlCol="0" anchor="t">
            <a:normAutofit/>
          </a:bodyPr>
          <a:lstStyle/>
          <a:p>
            <a:pPr marL="0" indent="0" algn="l">
              <a:lnSpc>
                <a:spcPts val="3366"/>
              </a:lnSpc>
              <a:buNone/>
            </a:pPr>
            <a:r>
              <a:rPr lang="en-US" sz="3060" b="1" i="0" dirty="0">
                <a:solidFill>
                  <a:srgbClr val="EDE9E0"/>
                </a:solidFill>
                <a:latin typeface="Oswald" pitchFamily="34" charset="0"/>
                <a:ea typeface="Oswald" pitchFamily="34" charset="-122"/>
                <a:cs typeface="Oswald" pitchFamily="34" charset="-120"/>
              </a:rPr>
              <a:t>Funcionalidades desarrolladas</a:t>
            </a:r>
            <a:endParaRPr lang="en-US" sz="3060" dirty="0"/>
          </a:p>
        </p:txBody>
      </p:sp>
      <p:sp>
        <p:nvSpPr>
          <p:cNvPr id="4" name="Shape 2"/>
          <p:cNvSpPr/>
          <p:nvPr/>
        </p:nvSpPr>
        <p:spPr>
          <a:xfrm>
            <a:off x="812800" y="1540470"/>
            <a:ext cx="3048000" cy="2600027"/>
          </a:xfrm>
          <a:prstGeom prst="roundRect">
            <a:avLst>
              <a:gd name="adj" fmla="val 3908"/>
            </a:avLst>
          </a:prstGeom>
          <a:solidFill>
            <a:srgbClr val="F5A524"/>
          </a:solidFill>
          <a:ln/>
        </p:spPr>
      </p:sp>
      <p:sp>
        <p:nvSpPr>
          <p:cNvPr id="5" name="Text 3"/>
          <p:cNvSpPr/>
          <p:nvPr/>
        </p:nvSpPr>
        <p:spPr>
          <a:xfrm>
            <a:off x="1016000" y="1743670"/>
            <a:ext cx="2844800" cy="1701701"/>
          </a:xfrm>
          <a:prstGeom prst="rect">
            <a:avLst/>
          </a:prstGeom>
          <a:noFill/>
          <a:ln/>
        </p:spPr>
        <p:txBody>
          <a:bodyPr wrap="square" lIns="0" tIns="0" rIns="0" bIns="0" rtlCol="0" anchor="t">
            <a:normAutofit/>
          </a:bodyPr>
          <a:lstStyle/>
          <a:p>
            <a:pPr marL="0" indent="0" algn="l">
              <a:lnSpc>
                <a:spcPts val="6952"/>
              </a:lnSpc>
              <a:buNone/>
            </a:pPr>
            <a:r>
              <a:rPr lang="en-US" sz="6320" b="1" dirty="0">
                <a:solidFill>
                  <a:srgbClr val="14171C"/>
                </a:solidFill>
                <a:latin typeface="Oswald" pitchFamily="34" charset="0"/>
                <a:ea typeface="Oswald" pitchFamily="34" charset="-122"/>
                <a:cs typeface="Oswald" pitchFamily="34" charset="-120"/>
              </a:rPr>
              <a:t>14 de 15</a:t>
            </a:r>
            <a:endParaRPr lang="en-US" sz="6320" dirty="0"/>
          </a:p>
        </p:txBody>
      </p:sp>
      <p:sp>
        <p:nvSpPr>
          <p:cNvPr id="6" name="Text 4"/>
          <p:cNvSpPr/>
          <p:nvPr/>
        </p:nvSpPr>
        <p:spPr>
          <a:xfrm>
            <a:off x="1016000" y="3470771"/>
            <a:ext cx="2844800" cy="491927"/>
          </a:xfrm>
          <a:prstGeom prst="rect">
            <a:avLst/>
          </a:prstGeom>
          <a:noFill/>
          <a:ln/>
        </p:spPr>
        <p:txBody>
          <a:bodyPr wrap="square" lIns="0" tIns="0" rIns="0" bIns="0" rtlCol="0" anchor="t">
            <a:normAutofit/>
          </a:bodyPr>
          <a:lstStyle/>
          <a:p>
            <a:pPr marL="0" indent="0" algn="l">
              <a:lnSpc>
                <a:spcPts val="1850"/>
              </a:lnSpc>
              <a:buNone/>
            </a:pPr>
            <a:r>
              <a:rPr lang="en-US" sz="1321" b="1" dirty="0">
                <a:solidFill>
                  <a:srgbClr val="14171C"/>
                </a:solidFill>
                <a:latin typeface="IBM Plex Sans" pitchFamily="34" charset="0"/>
                <a:ea typeface="IBM Plex Sans" pitchFamily="34" charset="-122"/>
                <a:cs typeface="IBM Plex Sans" pitchFamily="34" charset="-120"/>
              </a:rPr>
              <a:t>requerimientos terminados (93%)</a:t>
            </a:r>
            <a:endParaRPr lang="en-US" sz="1321" dirty="0"/>
          </a:p>
        </p:txBody>
      </p:sp>
      <p:sp>
        <p:nvSpPr>
          <p:cNvPr id="7" name="Shape 5"/>
          <p:cNvSpPr/>
          <p:nvPr/>
        </p:nvSpPr>
        <p:spPr>
          <a:xfrm>
            <a:off x="815975" y="4296073"/>
            <a:ext cx="3041650" cy="1542752"/>
          </a:xfrm>
          <a:prstGeom prst="roundRect">
            <a:avLst>
              <a:gd name="adj" fmla="val 6380"/>
            </a:avLst>
          </a:prstGeom>
          <a:solidFill>
            <a:srgbClr val="1E242C"/>
          </a:solidFill>
          <a:ln w="6350">
            <a:solidFill>
              <a:srgbClr val="2C333D"/>
            </a:solidFill>
            <a:prstDash val="solid"/>
          </a:ln>
        </p:spPr>
      </p:sp>
      <p:sp>
        <p:nvSpPr>
          <p:cNvPr id="8" name="Text 6"/>
          <p:cNvSpPr/>
          <p:nvPr/>
        </p:nvSpPr>
        <p:spPr>
          <a:xfrm>
            <a:off x="1022350" y="4502448"/>
            <a:ext cx="2707767" cy="281682"/>
          </a:xfrm>
          <a:prstGeom prst="rect">
            <a:avLst/>
          </a:prstGeom>
          <a:noFill/>
          <a:ln/>
        </p:spPr>
        <p:txBody>
          <a:bodyPr wrap="square" lIns="0" tIns="0" rIns="0" bIns="0" rtlCol="0" anchor="t">
            <a:normAutofit/>
          </a:bodyPr>
          <a:lstStyle/>
          <a:p>
            <a:pPr marL="0" indent="0" algn="l">
              <a:lnSpc>
                <a:spcPts val="2018"/>
              </a:lnSpc>
              <a:buNone/>
            </a:pPr>
            <a:r>
              <a:rPr lang="en-US" sz="1682" b="1" dirty="0">
                <a:solidFill>
                  <a:srgbClr val="F5A524"/>
                </a:solidFill>
                <a:latin typeface="Oswald" pitchFamily="34" charset="0"/>
                <a:ea typeface="Oswald" pitchFamily="34" charset="-122"/>
                <a:cs typeface="Oswald" pitchFamily="34" charset="-120"/>
              </a:rPr>
              <a:t>Demo en vivo · 2 min</a:t>
            </a:r>
            <a:endParaRPr lang="en-US" sz="1682" dirty="0"/>
          </a:p>
        </p:txBody>
      </p:sp>
      <p:sp>
        <p:nvSpPr>
          <p:cNvPr id="9" name="Text 7"/>
          <p:cNvSpPr/>
          <p:nvPr/>
        </p:nvSpPr>
        <p:spPr>
          <a:xfrm>
            <a:off x="1117501" y="4834930"/>
            <a:ext cx="2604996" cy="822920"/>
          </a:xfrm>
          <a:prstGeom prst="rect">
            <a:avLst/>
          </a:prstGeom>
          <a:noFill/>
          <a:ln/>
        </p:spPr>
        <p:txBody>
          <a:bodyPr wrap="square" lIns="0" tIns="0" rIns="0" bIns="0" rtlCol="0" anchor="t">
            <a:normAutofit/>
          </a:bodyPr>
          <a:lstStyle/>
          <a:p>
            <a:pPr marL="158849" indent="-158849" algn="l">
              <a:lnSpc>
                <a:spcPts val="1580"/>
              </a:lnSpc>
              <a:buSzPct val="100000"/>
              <a:buFontTx/>
              <a:buAutoNum type="arabicPeriod"/>
            </a:pPr>
            <a:r>
              <a:rPr lang="en-US" sz="1129" dirty="0">
                <a:solidFill>
                  <a:srgbClr val="EDE9E0"/>
                </a:solidFill>
                <a:latin typeface="IBM Plex Sans" pitchFamily="34" charset="0"/>
                <a:ea typeface="IBM Plex Sans" pitchFamily="34" charset="-122"/>
                <a:cs typeface="IBM Plex Sans" pitchFamily="34" charset="-120"/>
              </a:rPr>
              <a:t>Iniciar sesión como repartidor</a:t>
            </a:r>
            <a:endParaRPr lang="en-US" sz="1129" dirty="0"/>
          </a:p>
          <a:p>
            <a:pPr marL="158849" indent="-158849" algn="l">
              <a:lnSpc>
                <a:spcPts val="1580"/>
              </a:lnSpc>
              <a:buSzPct val="100000"/>
              <a:buFontTx/>
              <a:buAutoNum type="arabicPeriod"/>
            </a:pPr>
            <a:r>
              <a:rPr lang="en-US" sz="1129" dirty="0">
                <a:solidFill>
                  <a:srgbClr val="EDE9E0"/>
                </a:solidFill>
                <a:latin typeface="IBM Plex Sans" pitchFamily="34" charset="0"/>
                <a:ea typeface="IBM Plex Sans" pitchFamily="34" charset="-122"/>
                <a:cs typeface="IBM Plex Sans" pitchFamily="34" charset="-120"/>
              </a:rPr>
              <a:t>Registrar ingreso por paquetes</a:t>
            </a:r>
            <a:endParaRPr lang="en-US" sz="1129" dirty="0"/>
          </a:p>
          <a:p>
            <a:pPr marL="158849" indent="-158849" algn="l">
              <a:lnSpc>
                <a:spcPts val="1580"/>
              </a:lnSpc>
              <a:buSzPct val="100000"/>
              <a:buFontTx/>
              <a:buAutoNum type="arabicPeriod"/>
            </a:pPr>
            <a:r>
              <a:rPr lang="en-US" sz="1129" dirty="0">
                <a:solidFill>
                  <a:srgbClr val="EDE9E0"/>
                </a:solidFill>
                <a:latin typeface="IBM Plex Sans" pitchFamily="34" charset="0"/>
                <a:ea typeface="IBM Plex Sans" pitchFamily="34" charset="-122"/>
                <a:cs typeface="IBM Plex Sans" pitchFamily="34" charset="-120"/>
              </a:rPr>
              <a:t>Registrar gasto con descuento</a:t>
            </a:r>
            <a:endParaRPr lang="en-US" sz="1129" dirty="0"/>
          </a:p>
          <a:p>
            <a:pPr marL="158849" indent="-158849" algn="l">
              <a:lnSpc>
                <a:spcPts val="1580"/>
              </a:lnSpc>
              <a:buSzPct val="100000"/>
              <a:buFontTx/>
              <a:buAutoNum type="arabicPeriod"/>
            </a:pPr>
            <a:r>
              <a:rPr lang="en-US" sz="1129" dirty="0">
                <a:solidFill>
                  <a:srgbClr val="EDE9E0"/>
                </a:solidFill>
                <a:latin typeface="IBM Plex Sans" pitchFamily="34" charset="0"/>
                <a:ea typeface="IBM Plex Sans" pitchFamily="34" charset="-122"/>
                <a:cs typeface="IBM Plex Sans" pitchFamily="34" charset="-120"/>
              </a:rPr>
              <a:t>Panel admin: métricas y gráficos</a:t>
            </a:r>
            <a:endParaRPr lang="en-US" sz="1129" dirty="0"/>
          </a:p>
        </p:txBody>
      </p:sp>
      <p:sp>
        <p:nvSpPr>
          <p:cNvPr id="10" name="Text 8"/>
          <p:cNvSpPr/>
          <p:nvPr/>
        </p:nvSpPr>
        <p:spPr>
          <a:xfrm>
            <a:off x="4114800" y="1540470"/>
            <a:ext cx="238942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Acceso y roles (4)</a:t>
            </a:r>
            <a:endParaRPr lang="en-US" sz="1800" dirty="0"/>
          </a:p>
        </p:txBody>
      </p:sp>
      <p:pic>
        <p:nvPicPr>
          <p:cNvPr id="11" name="Image 0" descr="Check"/>
          <p:cNvPicPr>
            <a:picLocks noChangeAspect="1"/>
          </p:cNvPicPr>
          <p:nvPr/>
        </p:nvPicPr>
        <p:blipFill>
          <a:blip r:embed="rId3"/>
          <a:srcRect/>
          <a:stretch/>
        </p:blipFill>
        <p:spPr>
          <a:xfrm>
            <a:off x="4114800" y="1916311"/>
            <a:ext cx="177800" cy="177800"/>
          </a:xfrm>
          <a:prstGeom prst="rect">
            <a:avLst/>
          </a:prstGeom>
        </p:spPr>
      </p:pic>
      <p:sp>
        <p:nvSpPr>
          <p:cNvPr id="12" name="Text 9"/>
          <p:cNvSpPr/>
          <p:nvPr/>
        </p:nvSpPr>
        <p:spPr>
          <a:xfrm>
            <a:off x="4368800" y="1916311"/>
            <a:ext cx="212780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Registro con aprobación del admin</a:t>
            </a:r>
            <a:endParaRPr lang="en-US" sz="1200" dirty="0"/>
          </a:p>
        </p:txBody>
      </p:sp>
      <p:pic>
        <p:nvPicPr>
          <p:cNvPr id="13" name="Image 1" descr="Check"/>
          <p:cNvPicPr>
            <a:picLocks noChangeAspect="1"/>
          </p:cNvPicPr>
          <p:nvPr/>
        </p:nvPicPr>
        <p:blipFill>
          <a:blip r:embed="rId3"/>
          <a:srcRect/>
          <a:stretch/>
        </p:blipFill>
        <p:spPr>
          <a:xfrm>
            <a:off x="4114800" y="2444552"/>
            <a:ext cx="177800" cy="177800"/>
          </a:xfrm>
          <a:prstGeom prst="rect">
            <a:avLst/>
          </a:prstGeom>
        </p:spPr>
      </p:pic>
      <p:sp>
        <p:nvSpPr>
          <p:cNvPr id="14" name="Text 10"/>
          <p:cNvSpPr/>
          <p:nvPr/>
        </p:nvSpPr>
        <p:spPr>
          <a:xfrm>
            <a:off x="4368800" y="2444552"/>
            <a:ext cx="212780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Login con correo y JWT</a:t>
            </a:r>
            <a:endParaRPr lang="en-US" sz="1200" dirty="0"/>
          </a:p>
        </p:txBody>
      </p:sp>
      <p:pic>
        <p:nvPicPr>
          <p:cNvPr id="15" name="Image 2" descr="Check"/>
          <p:cNvPicPr>
            <a:picLocks noChangeAspect="1"/>
          </p:cNvPicPr>
          <p:nvPr/>
        </p:nvPicPr>
        <p:blipFill>
          <a:blip r:embed="rId3"/>
          <a:srcRect/>
          <a:stretch/>
        </p:blipFill>
        <p:spPr>
          <a:xfrm>
            <a:off x="4114800" y="2759472"/>
            <a:ext cx="177800" cy="177800"/>
          </a:xfrm>
          <a:prstGeom prst="rect">
            <a:avLst/>
          </a:prstGeom>
        </p:spPr>
      </p:pic>
      <p:sp>
        <p:nvSpPr>
          <p:cNvPr id="16" name="Text 11"/>
          <p:cNvSpPr/>
          <p:nvPr/>
        </p:nvSpPr>
        <p:spPr>
          <a:xfrm>
            <a:off x="4368800" y="2759472"/>
            <a:ext cx="212780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Login con Google</a:t>
            </a:r>
            <a:endParaRPr lang="en-US" sz="1200" dirty="0"/>
          </a:p>
        </p:txBody>
      </p:sp>
      <p:pic>
        <p:nvPicPr>
          <p:cNvPr id="17" name="Image 3" descr="Check"/>
          <p:cNvPicPr>
            <a:picLocks noChangeAspect="1"/>
          </p:cNvPicPr>
          <p:nvPr/>
        </p:nvPicPr>
        <p:blipFill>
          <a:blip r:embed="rId3"/>
          <a:srcRect/>
          <a:stretch/>
        </p:blipFill>
        <p:spPr>
          <a:xfrm>
            <a:off x="4114800" y="3074392"/>
            <a:ext cx="177800" cy="177800"/>
          </a:xfrm>
          <a:prstGeom prst="rect">
            <a:avLst/>
          </a:prstGeom>
        </p:spPr>
      </p:pic>
      <p:sp>
        <p:nvSpPr>
          <p:cNvPr id="18" name="Text 12"/>
          <p:cNvSpPr/>
          <p:nvPr/>
        </p:nvSpPr>
        <p:spPr>
          <a:xfrm>
            <a:off x="4368800" y="3074392"/>
            <a:ext cx="212780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Permisos por rol</a:t>
            </a:r>
            <a:endParaRPr lang="en-US" sz="1200" dirty="0"/>
          </a:p>
        </p:txBody>
      </p:sp>
      <p:sp>
        <p:nvSpPr>
          <p:cNvPr id="19" name="Text 13"/>
          <p:cNvSpPr/>
          <p:nvPr/>
        </p:nvSpPr>
        <p:spPr>
          <a:xfrm>
            <a:off x="4114800" y="3389313"/>
            <a:ext cx="238942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Pendiente (1)</a:t>
            </a:r>
            <a:endParaRPr lang="en-US" sz="1800" dirty="0"/>
          </a:p>
        </p:txBody>
      </p:sp>
      <p:pic>
        <p:nvPicPr>
          <p:cNvPr id="20" name="Image 4" descr="Clock"/>
          <p:cNvPicPr>
            <a:picLocks noChangeAspect="1"/>
          </p:cNvPicPr>
          <p:nvPr/>
        </p:nvPicPr>
        <p:blipFill>
          <a:blip r:embed="rId4"/>
          <a:srcRect/>
          <a:stretch/>
        </p:blipFill>
        <p:spPr>
          <a:xfrm>
            <a:off x="4114800" y="3765153"/>
            <a:ext cx="177800" cy="177800"/>
          </a:xfrm>
          <a:prstGeom prst="rect">
            <a:avLst/>
          </a:prstGeom>
        </p:spPr>
      </p:pic>
      <p:sp>
        <p:nvSpPr>
          <p:cNvPr id="21" name="Text 14"/>
          <p:cNvSpPr/>
          <p:nvPr/>
        </p:nvSpPr>
        <p:spPr>
          <a:xfrm>
            <a:off x="4368800" y="3765153"/>
            <a:ext cx="212780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Exportar reportes</a:t>
            </a:r>
            <a:endParaRPr lang="en-US" sz="1200" dirty="0"/>
          </a:p>
        </p:txBody>
      </p:sp>
      <p:sp>
        <p:nvSpPr>
          <p:cNvPr id="22" name="Text 15"/>
          <p:cNvSpPr/>
          <p:nvPr/>
        </p:nvSpPr>
        <p:spPr>
          <a:xfrm>
            <a:off x="6587034" y="1540470"/>
            <a:ext cx="2389531"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Repartidor (5)</a:t>
            </a:r>
            <a:endParaRPr lang="en-US" sz="1800" dirty="0"/>
          </a:p>
        </p:txBody>
      </p:sp>
      <p:pic>
        <p:nvPicPr>
          <p:cNvPr id="23" name="Image 5" descr="Check"/>
          <p:cNvPicPr>
            <a:picLocks noChangeAspect="1"/>
          </p:cNvPicPr>
          <p:nvPr/>
        </p:nvPicPr>
        <p:blipFill>
          <a:blip r:embed="rId3"/>
          <a:srcRect/>
          <a:stretch/>
        </p:blipFill>
        <p:spPr>
          <a:xfrm>
            <a:off x="6587034" y="1916311"/>
            <a:ext cx="177800" cy="177800"/>
          </a:xfrm>
          <a:prstGeom prst="rect">
            <a:avLst/>
          </a:prstGeom>
        </p:spPr>
      </p:pic>
      <p:sp>
        <p:nvSpPr>
          <p:cNvPr id="24" name="Text 16"/>
          <p:cNvSpPr/>
          <p:nvPr/>
        </p:nvSpPr>
        <p:spPr>
          <a:xfrm>
            <a:off x="6841034" y="1916311"/>
            <a:ext cx="212791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Ingreso por paquetes, con IVA y líquido</a:t>
            </a:r>
            <a:endParaRPr lang="en-US" sz="1200" dirty="0"/>
          </a:p>
        </p:txBody>
      </p:sp>
      <p:pic>
        <p:nvPicPr>
          <p:cNvPr id="25" name="Image 6" descr="Check"/>
          <p:cNvPicPr>
            <a:picLocks noChangeAspect="1"/>
          </p:cNvPicPr>
          <p:nvPr/>
        </p:nvPicPr>
        <p:blipFill>
          <a:blip r:embed="rId3"/>
          <a:srcRect/>
          <a:stretch/>
        </p:blipFill>
        <p:spPr>
          <a:xfrm>
            <a:off x="6587034" y="2444552"/>
            <a:ext cx="177800" cy="177800"/>
          </a:xfrm>
          <a:prstGeom prst="rect">
            <a:avLst/>
          </a:prstGeom>
        </p:spPr>
      </p:pic>
      <p:sp>
        <p:nvSpPr>
          <p:cNvPr id="26" name="Text 17"/>
          <p:cNvSpPr/>
          <p:nvPr/>
        </p:nvSpPr>
        <p:spPr>
          <a:xfrm>
            <a:off x="6841034" y="2444552"/>
            <a:ext cx="21279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Ingreso por retiros</a:t>
            </a:r>
            <a:endParaRPr lang="en-US" sz="1200" dirty="0"/>
          </a:p>
        </p:txBody>
      </p:sp>
      <p:pic>
        <p:nvPicPr>
          <p:cNvPr id="27" name="Image 7" descr="Check"/>
          <p:cNvPicPr>
            <a:picLocks noChangeAspect="1"/>
          </p:cNvPicPr>
          <p:nvPr/>
        </p:nvPicPr>
        <p:blipFill>
          <a:blip r:embed="rId3"/>
          <a:srcRect/>
          <a:stretch/>
        </p:blipFill>
        <p:spPr>
          <a:xfrm>
            <a:off x="6587034" y="2759472"/>
            <a:ext cx="177800" cy="177800"/>
          </a:xfrm>
          <a:prstGeom prst="rect">
            <a:avLst/>
          </a:prstGeom>
        </p:spPr>
      </p:pic>
      <p:sp>
        <p:nvSpPr>
          <p:cNvPr id="28" name="Text 18"/>
          <p:cNvSpPr/>
          <p:nvPr/>
        </p:nvSpPr>
        <p:spPr>
          <a:xfrm>
            <a:off x="6841034" y="2759472"/>
            <a:ext cx="212791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Gasto con descuento de combustible</a:t>
            </a:r>
            <a:endParaRPr lang="en-US" sz="1200" dirty="0"/>
          </a:p>
        </p:txBody>
      </p:sp>
      <p:pic>
        <p:nvPicPr>
          <p:cNvPr id="29" name="Image 8" descr="Check"/>
          <p:cNvPicPr>
            <a:picLocks noChangeAspect="1"/>
          </p:cNvPicPr>
          <p:nvPr/>
        </p:nvPicPr>
        <p:blipFill>
          <a:blip r:embed="rId3"/>
          <a:srcRect/>
          <a:stretch/>
        </p:blipFill>
        <p:spPr>
          <a:xfrm>
            <a:off x="6587034" y="3287713"/>
            <a:ext cx="177800" cy="177800"/>
          </a:xfrm>
          <a:prstGeom prst="rect">
            <a:avLst/>
          </a:prstGeom>
        </p:spPr>
      </p:pic>
      <p:sp>
        <p:nvSpPr>
          <p:cNvPr id="30" name="Text 19"/>
          <p:cNvSpPr/>
          <p:nvPr/>
        </p:nvSpPr>
        <p:spPr>
          <a:xfrm>
            <a:off x="6841034" y="3287713"/>
            <a:ext cx="21279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Filtros por fecha e historial</a:t>
            </a:r>
            <a:endParaRPr lang="en-US" sz="1200" dirty="0"/>
          </a:p>
        </p:txBody>
      </p:sp>
      <p:pic>
        <p:nvPicPr>
          <p:cNvPr id="31" name="Image 9" descr="Check"/>
          <p:cNvPicPr>
            <a:picLocks noChangeAspect="1"/>
          </p:cNvPicPr>
          <p:nvPr/>
        </p:nvPicPr>
        <p:blipFill>
          <a:blip r:embed="rId3"/>
          <a:srcRect/>
          <a:stretch/>
        </p:blipFill>
        <p:spPr>
          <a:xfrm>
            <a:off x="6587034" y="3602633"/>
            <a:ext cx="177800" cy="177800"/>
          </a:xfrm>
          <a:prstGeom prst="rect">
            <a:avLst/>
          </a:prstGeom>
        </p:spPr>
      </p:pic>
      <p:sp>
        <p:nvSpPr>
          <p:cNvPr id="32" name="Text 20"/>
          <p:cNvSpPr/>
          <p:nvPr/>
        </p:nvSpPr>
        <p:spPr>
          <a:xfrm>
            <a:off x="6841034" y="3602633"/>
            <a:ext cx="21279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Perfil del repartidor</a:t>
            </a:r>
            <a:endParaRPr lang="en-US" sz="1200" dirty="0"/>
          </a:p>
        </p:txBody>
      </p:sp>
      <p:sp>
        <p:nvSpPr>
          <p:cNvPr id="33" name="Text 21"/>
          <p:cNvSpPr/>
          <p:nvPr/>
        </p:nvSpPr>
        <p:spPr>
          <a:xfrm>
            <a:off x="9059366" y="1540470"/>
            <a:ext cx="238942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Administrador (5)</a:t>
            </a:r>
            <a:endParaRPr lang="en-US" sz="1800" dirty="0"/>
          </a:p>
        </p:txBody>
      </p:sp>
      <p:pic>
        <p:nvPicPr>
          <p:cNvPr id="34" name="Image 10" descr="Check"/>
          <p:cNvPicPr>
            <a:picLocks noChangeAspect="1"/>
          </p:cNvPicPr>
          <p:nvPr/>
        </p:nvPicPr>
        <p:blipFill>
          <a:blip r:embed="rId3"/>
          <a:srcRect/>
          <a:stretch/>
        </p:blipFill>
        <p:spPr>
          <a:xfrm>
            <a:off x="9059366" y="1916311"/>
            <a:ext cx="177800" cy="177800"/>
          </a:xfrm>
          <a:prstGeom prst="rect">
            <a:avLst/>
          </a:prstGeom>
        </p:spPr>
      </p:pic>
      <p:sp>
        <p:nvSpPr>
          <p:cNvPr id="35" name="Text 22"/>
          <p:cNvSpPr/>
          <p:nvPr/>
        </p:nvSpPr>
        <p:spPr>
          <a:xfrm>
            <a:off x="9313366" y="1916311"/>
            <a:ext cx="212780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Métricas consolidadas</a:t>
            </a:r>
            <a:endParaRPr lang="en-US" sz="1200" dirty="0"/>
          </a:p>
        </p:txBody>
      </p:sp>
      <p:pic>
        <p:nvPicPr>
          <p:cNvPr id="36" name="Image 11" descr="Check"/>
          <p:cNvPicPr>
            <a:picLocks noChangeAspect="1"/>
          </p:cNvPicPr>
          <p:nvPr/>
        </p:nvPicPr>
        <p:blipFill>
          <a:blip r:embed="rId3"/>
          <a:srcRect/>
          <a:stretch/>
        </p:blipFill>
        <p:spPr>
          <a:xfrm>
            <a:off x="9059366" y="2231231"/>
            <a:ext cx="177800" cy="177800"/>
          </a:xfrm>
          <a:prstGeom prst="rect">
            <a:avLst/>
          </a:prstGeom>
        </p:spPr>
      </p:pic>
      <p:sp>
        <p:nvSpPr>
          <p:cNvPr id="37" name="Text 23"/>
          <p:cNvSpPr/>
          <p:nvPr/>
        </p:nvSpPr>
        <p:spPr>
          <a:xfrm>
            <a:off x="9313366" y="2231231"/>
            <a:ext cx="212780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Gráficos de tendencia</a:t>
            </a:r>
            <a:endParaRPr lang="en-US" sz="1200" dirty="0"/>
          </a:p>
        </p:txBody>
      </p:sp>
      <p:pic>
        <p:nvPicPr>
          <p:cNvPr id="38" name="Image 12" descr="Check"/>
          <p:cNvPicPr>
            <a:picLocks noChangeAspect="1"/>
          </p:cNvPicPr>
          <p:nvPr/>
        </p:nvPicPr>
        <p:blipFill>
          <a:blip r:embed="rId3"/>
          <a:srcRect/>
          <a:stretch/>
        </p:blipFill>
        <p:spPr>
          <a:xfrm>
            <a:off x="9059366" y="2546152"/>
            <a:ext cx="177800" cy="177800"/>
          </a:xfrm>
          <a:prstGeom prst="rect">
            <a:avLst/>
          </a:prstGeom>
        </p:spPr>
      </p:pic>
      <p:sp>
        <p:nvSpPr>
          <p:cNvPr id="39" name="Text 24"/>
          <p:cNvSpPr/>
          <p:nvPr/>
        </p:nvSpPr>
        <p:spPr>
          <a:xfrm>
            <a:off x="9313366" y="2546152"/>
            <a:ext cx="212780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Comparativa por repartidor</a:t>
            </a:r>
            <a:endParaRPr lang="en-US" sz="1200" dirty="0"/>
          </a:p>
        </p:txBody>
      </p:sp>
      <p:pic>
        <p:nvPicPr>
          <p:cNvPr id="40" name="Image 13" descr="Check"/>
          <p:cNvPicPr>
            <a:picLocks noChangeAspect="1"/>
          </p:cNvPicPr>
          <p:nvPr/>
        </p:nvPicPr>
        <p:blipFill>
          <a:blip r:embed="rId3"/>
          <a:srcRect/>
          <a:stretch/>
        </p:blipFill>
        <p:spPr>
          <a:xfrm>
            <a:off x="9059366" y="2861072"/>
            <a:ext cx="177800" cy="177800"/>
          </a:xfrm>
          <a:prstGeom prst="rect">
            <a:avLst/>
          </a:prstGeom>
        </p:spPr>
      </p:pic>
      <p:sp>
        <p:nvSpPr>
          <p:cNvPr id="41" name="Text 25"/>
          <p:cNvSpPr/>
          <p:nvPr/>
        </p:nvSpPr>
        <p:spPr>
          <a:xfrm>
            <a:off x="9313366" y="2861072"/>
            <a:ext cx="212780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Revisión y eliminación de transacciones</a:t>
            </a:r>
            <a:endParaRPr lang="en-US" sz="1200" dirty="0"/>
          </a:p>
        </p:txBody>
      </p:sp>
      <p:pic>
        <p:nvPicPr>
          <p:cNvPr id="42" name="Image 14" descr="Check"/>
          <p:cNvPicPr>
            <a:picLocks noChangeAspect="1"/>
          </p:cNvPicPr>
          <p:nvPr/>
        </p:nvPicPr>
        <p:blipFill>
          <a:blip r:embed="rId3"/>
          <a:srcRect/>
          <a:stretch/>
        </p:blipFill>
        <p:spPr>
          <a:xfrm>
            <a:off x="9059366" y="3389313"/>
            <a:ext cx="177800" cy="177800"/>
          </a:xfrm>
          <a:prstGeom prst="rect">
            <a:avLst/>
          </a:prstGeom>
        </p:spPr>
      </p:pic>
      <p:sp>
        <p:nvSpPr>
          <p:cNvPr id="43" name="Text 26"/>
          <p:cNvSpPr/>
          <p:nvPr/>
        </p:nvSpPr>
        <p:spPr>
          <a:xfrm>
            <a:off x="9313366" y="3389313"/>
            <a:ext cx="212780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Aprobación de usuarios pendientes</a:t>
            </a:r>
            <a:endParaRPr lang="en-US" sz="1200" dirty="0"/>
          </a:p>
        </p:txBody>
      </p:sp>
      <p:sp>
        <p:nvSpPr>
          <p:cNvPr id="44" name="Text 2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Plataforma de Gestión Financiera · Avance Fase 2</a:t>
            </a:r>
            <a:endParaRPr lang="en-US" sz="1200" dirty="0"/>
          </a:p>
        </p:txBody>
      </p:sp>
      <p:sp>
        <p:nvSpPr>
          <p:cNvPr id="45" name="Text 28"/>
          <p:cNvSpPr/>
          <p:nvPr/>
        </p:nvSpPr>
        <p:spPr>
          <a:xfrm>
            <a:off x="9804400" y="6238280"/>
            <a:ext cx="1574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3ACB8"/>
                </a:solidFill>
                <a:latin typeface="IBM Plex Sans" pitchFamily="34" charset="0"/>
                <a:ea typeface="IBM Plex Sans" pitchFamily="34" charset="-122"/>
                <a:cs typeface="IBM Plex Sans" pitchFamily="34" charset="-120"/>
              </a:rPr>
              <a:t>09 / 16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71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5A524"/>
                </a:solidFill>
                <a:latin typeface="IBM Plex Sans" pitchFamily="34" charset="0"/>
                <a:ea typeface="IBM Plex Sans" pitchFamily="34" charset="-122"/>
                <a:cs typeface="IBM Plex Sans" pitchFamily="34" charset="-120"/>
              </a:rPr>
              <a:t>DOCUMENTACIÓN</a:t>
            </a:r>
            <a:endParaRPr lang="en-US" sz="1200" dirty="0"/>
          </a:p>
        </p:txBody>
      </p:sp>
      <p:sp>
        <p:nvSpPr>
          <p:cNvPr id="3" name="Text 1"/>
          <p:cNvSpPr>
            <a:spLocks noGrp="1"/>
          </p:cNvSpPr>
          <p:nvPr>
            <p:ph type="title"/>
          </p:nvPr>
        </p:nvSpPr>
        <p:spPr>
          <a:xfrm>
            <a:off x="812800" y="873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DE9E0"/>
                </a:solidFill>
                <a:latin typeface="Oswald" pitchFamily="34" charset="0"/>
                <a:ea typeface="Oswald" pitchFamily="34" charset="-122"/>
                <a:cs typeface="Oswald" pitchFamily="34" charset="-120"/>
              </a:rPr>
              <a:t>Documentación producida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87401"/>
          <a:ext cx="10553700" cy="2701727"/>
        </p:xfrm>
        <a:graphic>
          <a:graphicData uri="http://schemas.openxmlformats.org/drawingml/2006/table">
            <a:tbl>
              <a:tblPr/>
              <a:tblGrid>
                <a:gridCol w="2849499">
                  <a:extLst>
                    <a:ext uri="{9D8B030D-6E8A-4147-A177-3AD203B41FA5}">
                      <a16:colId xmlns:a16="http://schemas.microsoft.com/office/drawing/2014/main" val="20000"/>
                    </a:ext>
                  </a:extLst>
                </a:gridCol>
                <a:gridCol w="5382387">
                  <a:extLst>
                    <a:ext uri="{9D8B030D-6E8A-4147-A177-3AD203B41FA5}">
                      <a16:colId xmlns:a16="http://schemas.microsoft.com/office/drawing/2014/main" val="20001"/>
                    </a:ext>
                  </a:extLst>
                </a:gridCol>
                <a:gridCol w="2321814">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F5A524"/>
                          </a:solidFill>
                          <a:latin typeface="IBM Plex Sans" pitchFamily="34" charset="0"/>
                          <a:ea typeface="IBM Plex Sans" pitchFamily="34" charset="-122"/>
                          <a:cs typeface="IBM Plex Sans" pitchFamily="34" charset="-120"/>
                        </a:rPr>
                        <a:t>Artefacto</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94C"/>
                      </a:solidFill>
                      <a:prstDash val="solid"/>
                      <a:round/>
                      <a:headEnd type="none" w="med" len="med"/>
                      <a:tailEnd type="none" w="med" len="med"/>
                    </a:lnL>
                    <a:lnR w="12700" cap="flat" cmpd="sng" algn="ctr">
                      <a:solidFill>
                        <a:srgbClr val="595F65"/>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595F65"/>
                      </a:solidFill>
                      <a:prstDash val="solid"/>
                      <a:round/>
                      <a:headEnd type="none" w="med" len="med"/>
                      <a:tailEnd type="none" w="med" len="med"/>
                    </a:lnB>
                    <a:solidFill>
                      <a:srgbClr val="2C333D"/>
                    </a:solidFill>
                  </a:tcPr>
                </a:tc>
                <a:tc>
                  <a:txBody>
                    <a:bodyPr/>
                    <a:lstStyle/>
                    <a:p>
                      <a:pPr marL="0" indent="0">
                        <a:lnSpc>
                          <a:spcPts val="1960"/>
                        </a:lnSpc>
                        <a:buNone/>
                      </a:pPr>
                      <a:r>
                        <a:rPr lang="en-US" sz="1400" b="1" dirty="0">
                          <a:solidFill>
                            <a:srgbClr val="F5A524"/>
                          </a:solidFill>
                          <a:latin typeface="IBM Plex Sans" pitchFamily="34" charset="0"/>
                          <a:ea typeface="IBM Plex Sans" pitchFamily="34" charset="-122"/>
                          <a:cs typeface="IBM Plex Sans" pitchFamily="34" charset="-120"/>
                        </a:rPr>
                        <a:t>Contenido</a:t>
                      </a:r>
                      <a:endParaRPr lang="en-US" sz="1400" dirty="0">
                        <a:latin typeface="IBM Plex Sans" charset="0"/>
                        <a:ea typeface="IBM Plex Sans" charset="0"/>
                        <a:cs typeface="IBM Plex Sans" charset="0"/>
                      </a:endParaRPr>
                    </a:p>
                  </a:txBody>
                  <a:tcPr marL="62230" marR="62230" marT="62230" marB="62230">
                    <a:lnL w="12700" cap="flat" cmpd="sng" algn="ctr">
                      <a:solidFill>
                        <a:srgbClr val="595F65"/>
                      </a:solidFill>
                      <a:prstDash val="solid"/>
                      <a:round/>
                      <a:headEnd type="none" w="med" len="med"/>
                      <a:tailEnd type="none" w="med" len="med"/>
                    </a:lnL>
                    <a:lnR w="12700" cap="flat" cmpd="sng" algn="ctr">
                      <a:solidFill>
                        <a:srgbClr val="595F65"/>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595F65"/>
                      </a:solidFill>
                      <a:prstDash val="solid"/>
                      <a:round/>
                      <a:headEnd type="none" w="med" len="med"/>
                      <a:tailEnd type="none" w="med" len="med"/>
                    </a:lnB>
                    <a:solidFill>
                      <a:srgbClr val="2C333D"/>
                    </a:solidFill>
                  </a:tcPr>
                </a:tc>
                <a:tc>
                  <a:txBody>
                    <a:bodyPr/>
                    <a:lstStyle/>
                    <a:p>
                      <a:pPr marL="0" indent="0">
                        <a:lnSpc>
                          <a:spcPts val="1960"/>
                        </a:lnSpc>
                        <a:buNone/>
                      </a:pPr>
                      <a:r>
                        <a:rPr lang="en-US" sz="1400" b="1" dirty="0">
                          <a:solidFill>
                            <a:srgbClr val="F5A524"/>
                          </a:solidFill>
                          <a:latin typeface="IBM Plex Sans" pitchFamily="34" charset="0"/>
                          <a:ea typeface="IBM Plex Sans" pitchFamily="34" charset="-122"/>
                          <a:cs typeface="IBM Plex Sans" pitchFamily="34" charset="-120"/>
                        </a:rPr>
                        <a:t>Estado</a:t>
                      </a:r>
                      <a:endParaRPr lang="en-US" sz="1400" dirty="0">
                        <a:latin typeface="IBM Plex Sans" charset="0"/>
                        <a:ea typeface="IBM Plex Sans" charset="0"/>
                        <a:cs typeface="IBM Plex Sans" charset="0"/>
                      </a:endParaRPr>
                    </a:p>
                  </a:txBody>
                  <a:tcPr marL="62230" marR="62230" marT="62230" marB="62230">
                    <a:lnL w="12700" cap="flat" cmpd="sng" algn="ctr">
                      <a:solidFill>
                        <a:srgbClr val="595F65"/>
                      </a:solidFill>
                      <a:prstDash val="solid"/>
                      <a:round/>
                      <a:headEnd type="none" w="med" len="med"/>
                      <a:tailEnd type="none" w="med" len="med"/>
                    </a:lnL>
                    <a:lnR w="12700" cap="flat" cmpd="sng" algn="ctr">
                      <a:solidFill>
                        <a:srgbClr val="595F65"/>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595F65"/>
                      </a:solidFill>
                      <a:prstDash val="solid"/>
                      <a:round/>
                      <a:headEnd type="none" w="med" len="med"/>
                      <a:tailEnd type="none" w="med" len="med"/>
                    </a:lnB>
                    <a:solidFill>
                      <a:srgbClr val="2C333D"/>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EDE9E0"/>
                          </a:solidFill>
                          <a:latin typeface="IBM Plex Sans" pitchFamily="34" charset="0"/>
                          <a:ea typeface="IBM Plex Sans" pitchFamily="34" charset="-122"/>
                          <a:cs typeface="IBM Plex Sans" pitchFamily="34" charset="-120"/>
                        </a:rPr>
                        <a:t>Visión del proyecto</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94C"/>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595F65"/>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960"/>
                        </a:lnSpc>
                        <a:buNone/>
                      </a:pPr>
                      <a:r>
                        <a:rPr lang="en-US" sz="1400" dirty="0">
                          <a:solidFill>
                            <a:srgbClr val="EDE9E0"/>
                          </a:solidFill>
                          <a:latin typeface="IBM Plex Sans" pitchFamily="34" charset="0"/>
                          <a:ea typeface="IBM Plex Sans" pitchFamily="34" charset="-122"/>
                          <a:cs typeface="IBM Plex Sans" pitchFamily="34" charset="-120"/>
                        </a:rPr>
                        <a:t>Contexto, problema, objetivos y alcance</a:t>
                      </a:r>
                      <a:endParaRPr lang="en-US" sz="1400" dirty="0">
                        <a:latin typeface="IBM Plex Sans" charset="0"/>
                        <a:ea typeface="IBM Plex Sans" charset="0"/>
                        <a:cs typeface="IBM Plex Sans" charset="0"/>
                      </a:endParaRPr>
                    </a:p>
                  </a:txBody>
                  <a:tcPr marL="62230" marR="62230" marT="62230" marB="6223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595F65"/>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960"/>
                        </a:lnSpc>
                        <a:buNone/>
                      </a:pPr>
                      <a:r>
                        <a:rPr lang="en-US" sz="1400" dirty="0">
                          <a:solidFill>
                            <a:srgbClr val="6EA8F0"/>
                          </a:solidFill>
                          <a:latin typeface="IBM Plex Sans" pitchFamily="34" charset="0"/>
                          <a:ea typeface="IBM Plex Sans" pitchFamily="34" charset="-122"/>
                          <a:cs typeface="IBM Plex Sans" pitchFamily="34" charset="-120"/>
                        </a:rPr>
                        <a:t>Disponible</a:t>
                      </a:r>
                      <a:endParaRPr lang="en-US" sz="1400" dirty="0">
                        <a:latin typeface="IBM Plex Sans" charset="0"/>
                        <a:ea typeface="IBM Plex Sans" charset="0"/>
                        <a:cs typeface="IBM Plex Sans" charset="0"/>
                      </a:endParaRPr>
                    </a:p>
                  </a:txBody>
                  <a:tcPr marL="62230" marR="62230" marT="62230" marB="6223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595F65"/>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EDE9E0"/>
                          </a:solidFill>
                          <a:latin typeface="IBM Plex Sans" pitchFamily="34" charset="0"/>
                          <a:ea typeface="IBM Plex Sans" pitchFamily="34" charset="-122"/>
                          <a:cs typeface="IBM Plex Sans" pitchFamily="34" charset="-120"/>
                        </a:rPr>
                        <a:t>Reglas de negocio</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960"/>
                        </a:lnSpc>
                        <a:buNone/>
                      </a:pPr>
                      <a:r>
                        <a:rPr lang="en-US" sz="1400" dirty="0">
                          <a:solidFill>
                            <a:srgbClr val="EDE9E0"/>
                          </a:solidFill>
                          <a:latin typeface="IBM Plex Sans" pitchFamily="34" charset="0"/>
                          <a:ea typeface="IBM Plex Sans" pitchFamily="34" charset="-122"/>
                          <a:cs typeface="IBM Plex Sans" pitchFamily="34" charset="-120"/>
                        </a:rPr>
                        <a:t>Fórmulas de monto líquido, IVA, gastos y balance</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960"/>
                        </a:lnSpc>
                        <a:buNone/>
                      </a:pPr>
                      <a:r>
                        <a:rPr lang="en-US" sz="1400" dirty="0">
                          <a:solidFill>
                            <a:srgbClr val="6EA8F0"/>
                          </a:solidFill>
                          <a:latin typeface="IBM Plex Sans" pitchFamily="34" charset="0"/>
                          <a:ea typeface="IBM Plex Sans" pitchFamily="34" charset="-122"/>
                          <a:cs typeface="IBM Plex Sans" pitchFamily="34" charset="-120"/>
                        </a:rPr>
                        <a:t>Disponible</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EDE9E0"/>
                          </a:solidFill>
                          <a:latin typeface="IBM Plex Sans" pitchFamily="34" charset="0"/>
                          <a:ea typeface="IBM Plex Sans" pitchFamily="34" charset="-122"/>
                          <a:cs typeface="IBM Plex Sans" pitchFamily="34" charset="-120"/>
                        </a:rPr>
                        <a:t>Backlog</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94C"/>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960"/>
                        </a:lnSpc>
                        <a:buNone/>
                      </a:pPr>
                      <a:r>
                        <a:rPr lang="en-US" sz="1400" dirty="0">
                          <a:solidFill>
                            <a:srgbClr val="EDE9E0"/>
                          </a:solidFill>
                          <a:latin typeface="IBM Plex Sans" pitchFamily="34" charset="0"/>
                          <a:ea typeface="IBM Plex Sans" pitchFamily="34" charset="-122"/>
                          <a:cs typeface="IBM Plex Sans" pitchFamily="34" charset="-120"/>
                        </a:rPr>
                        <a:t>Lista de 15 requerimientos con su estado</a:t>
                      </a:r>
                      <a:endParaRPr lang="en-US" sz="1400" dirty="0">
                        <a:latin typeface="IBM Plex Sans" charset="0"/>
                        <a:ea typeface="IBM Plex Sans" charset="0"/>
                        <a:cs typeface="IBM Plex Sans" charset="0"/>
                      </a:endParaRPr>
                    </a:p>
                  </a:txBody>
                  <a:tcPr marL="62230" marR="62230" marT="62230" marB="6223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960"/>
                        </a:lnSpc>
                        <a:buNone/>
                      </a:pPr>
                      <a:r>
                        <a:rPr lang="en-US" sz="1400" dirty="0">
                          <a:solidFill>
                            <a:srgbClr val="F5A524"/>
                          </a:solidFill>
                          <a:latin typeface="IBM Plex Sans" pitchFamily="34" charset="0"/>
                          <a:ea typeface="IBM Plex Sans" pitchFamily="34" charset="-122"/>
                          <a:cs typeface="IBM Plex Sans" pitchFamily="34" charset="-120"/>
                        </a:rPr>
                        <a:t>Parcial</a:t>
                      </a:r>
                      <a:endParaRPr lang="en-US" sz="1400" dirty="0">
                        <a:latin typeface="IBM Plex Sans" charset="0"/>
                        <a:ea typeface="IBM Plex Sans" charset="0"/>
                        <a:cs typeface="IBM Plex Sans" charset="0"/>
                      </a:endParaRPr>
                    </a:p>
                  </a:txBody>
                  <a:tcPr marL="62230" marR="62230" marT="62230" marB="6223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EDE9E0"/>
                          </a:solidFill>
                          <a:latin typeface="IBM Plex Sans" pitchFamily="34" charset="0"/>
                          <a:ea typeface="IBM Plex Sans" pitchFamily="34" charset="-122"/>
                          <a:cs typeface="IBM Plex Sans" pitchFamily="34" charset="-120"/>
                        </a:rPr>
                        <a:t>Documento de diseño</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960"/>
                        </a:lnSpc>
                        <a:buNone/>
                      </a:pPr>
                      <a:r>
                        <a:rPr lang="en-US" sz="1400" dirty="0">
                          <a:solidFill>
                            <a:srgbClr val="EDE9E0"/>
                          </a:solidFill>
                          <a:latin typeface="IBM Plex Sans" pitchFamily="34" charset="0"/>
                          <a:ea typeface="IBM Plex Sans" pitchFamily="34" charset="-122"/>
                          <a:cs typeface="IBM Plex Sans" pitchFamily="34" charset="-120"/>
                        </a:rPr>
                        <a:t>Arquitectura y modelo de datos (schema y migraciones)</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960"/>
                        </a:lnSpc>
                        <a:buNone/>
                      </a:pPr>
                      <a:r>
                        <a:rPr lang="en-US" sz="1400" dirty="0">
                          <a:solidFill>
                            <a:srgbClr val="6EA8F0"/>
                          </a:solidFill>
                          <a:latin typeface="IBM Plex Sans" pitchFamily="34" charset="0"/>
                          <a:ea typeface="IBM Plex Sans" pitchFamily="34" charset="-122"/>
                          <a:cs typeface="IBM Plex Sans" pitchFamily="34" charset="-120"/>
                        </a:rPr>
                        <a:t>Disponible</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EDE9E0"/>
                          </a:solidFill>
                          <a:latin typeface="IBM Plex Sans" pitchFamily="34" charset="0"/>
                          <a:ea typeface="IBM Plex Sans" pitchFamily="34" charset="-122"/>
                          <a:cs typeface="IBM Plex Sans" pitchFamily="34" charset="-120"/>
                        </a:rPr>
                        <a:t>README</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94C"/>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960"/>
                        </a:lnSpc>
                        <a:buNone/>
                      </a:pPr>
                      <a:r>
                        <a:rPr lang="en-US" sz="1400" dirty="0">
                          <a:solidFill>
                            <a:srgbClr val="EDE9E0"/>
                          </a:solidFill>
                          <a:latin typeface="IBM Plex Sans" pitchFamily="34" charset="0"/>
                          <a:ea typeface="IBM Plex Sans" pitchFamily="34" charset="-122"/>
                          <a:cs typeface="IBM Plex Sans" pitchFamily="34" charset="-120"/>
                        </a:rPr>
                        <a:t>Descripción, stack, características e instalación</a:t>
                      </a:r>
                      <a:endParaRPr lang="en-US" sz="1400" dirty="0">
                        <a:latin typeface="IBM Plex Sans" charset="0"/>
                        <a:ea typeface="IBM Plex Sans" charset="0"/>
                        <a:cs typeface="IBM Plex Sans" charset="0"/>
                      </a:endParaRPr>
                    </a:p>
                  </a:txBody>
                  <a:tcPr marL="62230" marR="62230" marT="62230" marB="6223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960"/>
                        </a:lnSpc>
                        <a:buNone/>
                      </a:pPr>
                      <a:r>
                        <a:rPr lang="en-US" sz="1400" dirty="0">
                          <a:solidFill>
                            <a:srgbClr val="6EA8F0"/>
                          </a:solidFill>
                          <a:latin typeface="IBM Plex Sans" pitchFamily="34" charset="0"/>
                          <a:ea typeface="IBM Plex Sans" pitchFamily="34" charset="-122"/>
                          <a:cs typeface="IBM Plex Sans" pitchFamily="34" charset="-120"/>
                        </a:rPr>
                        <a:t>Disponible</a:t>
                      </a:r>
                      <a:endParaRPr lang="en-US" sz="1400" dirty="0">
                        <a:latin typeface="IBM Plex Sans" charset="0"/>
                        <a:ea typeface="IBM Plex Sans" charset="0"/>
                        <a:cs typeface="IBM Plex Sans" charset="0"/>
                      </a:endParaRPr>
                    </a:p>
                  </a:txBody>
                  <a:tcPr marL="62230" marR="62230" marT="62230" marB="6223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EDE9E0"/>
                          </a:solidFill>
                          <a:latin typeface="IBM Plex Sans" pitchFamily="34" charset="0"/>
                          <a:ea typeface="IBM Plex Sans" pitchFamily="34" charset="-122"/>
                          <a:cs typeface="IBM Plex Sans" pitchFamily="34" charset="-120"/>
                        </a:rPr>
                        <a:t>Plan de pruebas</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960"/>
                        </a:lnSpc>
                        <a:buNone/>
                      </a:pPr>
                      <a:r>
                        <a:rPr lang="en-US" sz="1400" dirty="0">
                          <a:solidFill>
                            <a:srgbClr val="EDE9E0"/>
                          </a:solidFill>
                          <a:latin typeface="IBM Plex Sans" pitchFamily="34" charset="0"/>
                          <a:ea typeface="IBM Plex Sans" pitchFamily="34" charset="-122"/>
                          <a:cs typeface="IBM Plex Sans" pitchFamily="34" charset="-120"/>
                        </a:rPr>
                        <a:t>Casos de prueba de los cálculos financieros</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960"/>
                        </a:lnSpc>
                        <a:buNone/>
                      </a:pPr>
                      <a:r>
                        <a:rPr lang="en-US" sz="1400" dirty="0">
                          <a:solidFill>
                            <a:srgbClr val="F5A524"/>
                          </a:solidFill>
                          <a:latin typeface="IBM Plex Sans" pitchFamily="34" charset="0"/>
                          <a:ea typeface="IBM Plex Sans" pitchFamily="34" charset="-122"/>
                          <a:cs typeface="IBM Plex Sans" pitchFamily="34" charset="-120"/>
                        </a:rPr>
                        <a:t>Pendiente (semana 15)</a:t>
                      </a:r>
                      <a:endParaRPr lang="en-US" sz="1400" dirty="0">
                        <a:latin typeface="IBM Plex Sans" charset="0"/>
                        <a:ea typeface="IBM Plex Sans" charset="0"/>
                        <a:cs typeface="IBM Plex Sans" charset="0"/>
                      </a:endParaRPr>
                    </a:p>
                  </a:txBody>
                  <a:tcPr marL="62230" marR="62230" marT="62230" marB="6223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Plataforma de Gestión Financiera · Avance Fase 2</a:t>
            </a:r>
            <a:endParaRPr lang="en-US" sz="1200" dirty="0"/>
          </a:p>
        </p:txBody>
      </p:sp>
      <p:sp>
        <p:nvSpPr>
          <p:cNvPr id="6" name="Text 3"/>
          <p:cNvSpPr/>
          <p:nvPr/>
        </p:nvSpPr>
        <p:spPr>
          <a:xfrm>
            <a:off x="9804400" y="6238280"/>
            <a:ext cx="1574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3ACB8"/>
                </a:solidFill>
                <a:latin typeface="IBM Plex Sans" pitchFamily="34" charset="0"/>
                <a:ea typeface="IBM Plex Sans" pitchFamily="34" charset="-122"/>
                <a:cs typeface="IBM Plex Sans" pitchFamily="34" charset="-120"/>
              </a:rPr>
              <a:t>10 / 16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71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5A524"/>
                </a:solidFill>
                <a:latin typeface="IBM Plex Sans" pitchFamily="34" charset="0"/>
                <a:ea typeface="IBM Plex Sans" pitchFamily="34" charset="-122"/>
                <a:cs typeface="IBM Plex Sans" pitchFamily="34" charset="-120"/>
              </a:rPr>
              <a:t>CALIDAD</a:t>
            </a:r>
            <a:endParaRPr lang="en-US" sz="1200" dirty="0"/>
          </a:p>
        </p:txBody>
      </p:sp>
      <p:sp>
        <p:nvSpPr>
          <p:cNvPr id="3" name="Text 1"/>
          <p:cNvSpPr>
            <a:spLocks noGrp="1"/>
          </p:cNvSpPr>
          <p:nvPr>
            <p:ph type="title"/>
          </p:nvPr>
        </p:nvSpPr>
        <p:spPr>
          <a:xfrm>
            <a:off x="812800" y="873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DE9E0"/>
                </a:solidFill>
                <a:latin typeface="Oswald" pitchFamily="34" charset="0"/>
                <a:ea typeface="Oswald" pitchFamily="34" charset="-122"/>
                <a:cs typeface="Oswald" pitchFamily="34" charset="-120"/>
              </a:rPr>
              <a:t>Calidad y estándares</a:t>
            </a:r>
            <a:endParaRPr lang="en-US" sz="3200" dirty="0"/>
          </a:p>
        </p:txBody>
      </p:sp>
      <p:sp>
        <p:nvSpPr>
          <p:cNvPr id="4" name="Shape 2"/>
          <p:cNvSpPr/>
          <p:nvPr/>
        </p:nvSpPr>
        <p:spPr>
          <a:xfrm>
            <a:off x="815975" y="1577876"/>
            <a:ext cx="5175250" cy="1509713"/>
          </a:xfrm>
          <a:prstGeom prst="roundRect">
            <a:avLst>
              <a:gd name="adj" fmla="val 6519"/>
            </a:avLst>
          </a:prstGeom>
          <a:solidFill>
            <a:srgbClr val="1E242C"/>
          </a:solidFill>
          <a:ln w="6350">
            <a:solidFill>
              <a:srgbClr val="2C333D"/>
            </a:solidFill>
            <a:prstDash val="solid"/>
          </a:ln>
        </p:spPr>
      </p:sp>
      <p:sp>
        <p:nvSpPr>
          <p:cNvPr id="5" name="Text 3"/>
          <p:cNvSpPr/>
          <p:nvPr/>
        </p:nvSpPr>
        <p:spPr>
          <a:xfrm>
            <a:off x="1022350" y="1784251"/>
            <a:ext cx="490537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Pruebas</a:t>
            </a:r>
            <a:endParaRPr lang="en-US" sz="1800" dirty="0"/>
          </a:p>
        </p:txBody>
      </p:sp>
      <p:sp>
        <p:nvSpPr>
          <p:cNvPr id="6" name="Text 4"/>
          <p:cNvSpPr/>
          <p:nvPr/>
        </p:nvSpPr>
        <p:spPr>
          <a:xfrm>
            <a:off x="1022350" y="2134691"/>
            <a:ext cx="4905375"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DE9E0"/>
                </a:solidFill>
                <a:latin typeface="IBM Plex Sans" pitchFamily="34" charset="0"/>
                <a:ea typeface="IBM Plex Sans" pitchFamily="34" charset="-122"/>
                <a:cs typeface="IBM Plex Sans" pitchFamily="34" charset="-120"/>
              </a:rPr>
              <a:t>7/7 pruebas funcionales aprobadas en cálculos y flujos principales. Pendiente: pruebas unitarias automatizadas de las fórmulas.</a:t>
            </a:r>
            <a:endParaRPr lang="en-US" sz="1400" dirty="0"/>
          </a:p>
        </p:txBody>
      </p:sp>
      <p:sp>
        <p:nvSpPr>
          <p:cNvPr id="7" name="Shape 5"/>
          <p:cNvSpPr/>
          <p:nvPr/>
        </p:nvSpPr>
        <p:spPr>
          <a:xfrm>
            <a:off x="6200775" y="1577876"/>
            <a:ext cx="5175250" cy="1509713"/>
          </a:xfrm>
          <a:prstGeom prst="roundRect">
            <a:avLst>
              <a:gd name="adj" fmla="val 6519"/>
            </a:avLst>
          </a:prstGeom>
          <a:solidFill>
            <a:srgbClr val="1E242C"/>
          </a:solidFill>
          <a:ln w="6350">
            <a:solidFill>
              <a:srgbClr val="2C333D"/>
            </a:solidFill>
            <a:prstDash val="solid"/>
          </a:ln>
        </p:spPr>
      </p:sp>
      <p:sp>
        <p:nvSpPr>
          <p:cNvPr id="8" name="Text 6"/>
          <p:cNvSpPr/>
          <p:nvPr/>
        </p:nvSpPr>
        <p:spPr>
          <a:xfrm>
            <a:off x="6407150" y="1784251"/>
            <a:ext cx="490537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Convención de código</a:t>
            </a:r>
            <a:endParaRPr lang="en-US" sz="1800" dirty="0"/>
          </a:p>
        </p:txBody>
      </p:sp>
      <p:sp>
        <p:nvSpPr>
          <p:cNvPr id="9" name="Text 7"/>
          <p:cNvSpPr/>
          <p:nvPr/>
        </p:nvSpPr>
        <p:spPr>
          <a:xfrm>
            <a:off x="6407150" y="2134691"/>
            <a:ext cx="4905375"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DE9E0"/>
                </a:solidFill>
                <a:latin typeface="IBM Plex Sans" pitchFamily="34" charset="0"/>
                <a:ea typeface="IBM Plex Sans" pitchFamily="34" charset="-122"/>
                <a:cs typeface="IBM Plex Sans" pitchFamily="34" charset="-120"/>
              </a:rPr>
              <a:t>Nombres en español con camelCase. Controladores para endpoints, servicios para Axios y contexto para el estado global. Íconos SVG inline.</a:t>
            </a:r>
            <a:endParaRPr lang="en-US" sz="1400" dirty="0"/>
          </a:p>
        </p:txBody>
      </p:sp>
      <p:sp>
        <p:nvSpPr>
          <p:cNvPr id="10" name="Shape 8"/>
          <p:cNvSpPr/>
          <p:nvPr/>
        </p:nvSpPr>
        <p:spPr>
          <a:xfrm>
            <a:off x="815975" y="3297138"/>
            <a:ext cx="5175250" cy="1260872"/>
          </a:xfrm>
          <a:prstGeom prst="roundRect">
            <a:avLst>
              <a:gd name="adj" fmla="val 7806"/>
            </a:avLst>
          </a:prstGeom>
          <a:solidFill>
            <a:srgbClr val="1E242C"/>
          </a:solidFill>
          <a:ln w="6350">
            <a:solidFill>
              <a:srgbClr val="2C333D"/>
            </a:solidFill>
            <a:prstDash val="solid"/>
          </a:ln>
        </p:spPr>
      </p:sp>
      <p:sp>
        <p:nvSpPr>
          <p:cNvPr id="11" name="Text 9"/>
          <p:cNvSpPr/>
          <p:nvPr/>
        </p:nvSpPr>
        <p:spPr>
          <a:xfrm>
            <a:off x="1022350" y="3503513"/>
            <a:ext cx="490537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Linter</a:t>
            </a:r>
            <a:endParaRPr lang="en-US" sz="1800" dirty="0"/>
          </a:p>
        </p:txBody>
      </p:sp>
      <p:sp>
        <p:nvSpPr>
          <p:cNvPr id="12" name="Text 10"/>
          <p:cNvSpPr/>
          <p:nvPr/>
        </p:nvSpPr>
        <p:spPr>
          <a:xfrm>
            <a:off x="1022350" y="3853954"/>
            <a:ext cx="4905375"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DE9E0"/>
                </a:solidFill>
                <a:latin typeface="IBM Plex Sans" pitchFamily="34" charset="0"/>
                <a:ea typeface="IBM Plex Sans" pitchFamily="34" charset="-122"/>
                <a:cs typeface="IBM Plex Sans" pitchFamily="34" charset="-120"/>
              </a:rPr>
              <a:t>ESLint 9 con reglas de react-hooks y react-refresh en el frontend, ejecutable con npm run lint.</a:t>
            </a:r>
            <a:endParaRPr lang="en-US" sz="1400" dirty="0"/>
          </a:p>
        </p:txBody>
      </p:sp>
      <p:sp>
        <p:nvSpPr>
          <p:cNvPr id="13" name="Shape 11"/>
          <p:cNvSpPr/>
          <p:nvPr/>
        </p:nvSpPr>
        <p:spPr>
          <a:xfrm>
            <a:off x="6200775" y="3297138"/>
            <a:ext cx="5175250" cy="1260872"/>
          </a:xfrm>
          <a:prstGeom prst="roundRect">
            <a:avLst>
              <a:gd name="adj" fmla="val 7806"/>
            </a:avLst>
          </a:prstGeom>
          <a:solidFill>
            <a:srgbClr val="1E242C"/>
          </a:solidFill>
          <a:ln w="6350">
            <a:solidFill>
              <a:srgbClr val="2C333D"/>
            </a:solidFill>
            <a:prstDash val="solid"/>
          </a:ln>
        </p:spPr>
      </p:sp>
      <p:sp>
        <p:nvSpPr>
          <p:cNvPr id="14" name="Text 12"/>
          <p:cNvSpPr/>
          <p:nvPr/>
        </p:nvSpPr>
        <p:spPr>
          <a:xfrm>
            <a:off x="6407150" y="3503513"/>
            <a:ext cx="490537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Ramas y commits</a:t>
            </a:r>
            <a:endParaRPr lang="en-US" sz="1800" dirty="0"/>
          </a:p>
        </p:txBody>
      </p:sp>
      <p:sp>
        <p:nvSpPr>
          <p:cNvPr id="15" name="Text 13"/>
          <p:cNvSpPr/>
          <p:nvPr/>
        </p:nvSpPr>
        <p:spPr>
          <a:xfrm>
            <a:off x="6407150" y="3853954"/>
            <a:ext cx="4905375"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DE9E0"/>
                </a:solidFill>
                <a:latin typeface="IBM Plex Sans" pitchFamily="34" charset="0"/>
                <a:ea typeface="IBM Plex Sans" pitchFamily="34" charset="-122"/>
                <a:cs typeface="IBM Plex Sans" pitchFamily="34" charset="-120"/>
              </a:rPr>
              <a:t>Rama única main y commits con prefijos feat, fix y style. </a:t>
            </a:r>
            <a:endParaRPr lang="en-US" sz="14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Plataforma de Gestión Financiera · Avance Fase 2</a:t>
            </a:r>
            <a:endParaRPr lang="en-US" sz="1200" dirty="0"/>
          </a:p>
        </p:txBody>
      </p:sp>
      <p:sp>
        <p:nvSpPr>
          <p:cNvPr id="17" name="Text 15"/>
          <p:cNvSpPr/>
          <p:nvPr/>
        </p:nvSpPr>
        <p:spPr>
          <a:xfrm>
            <a:off x="9804400" y="6238280"/>
            <a:ext cx="1574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3ACB8"/>
                </a:solidFill>
                <a:latin typeface="IBM Plex Sans" pitchFamily="34" charset="0"/>
                <a:ea typeface="IBM Plex Sans" pitchFamily="34" charset="-122"/>
                <a:cs typeface="IBM Plex Sans" pitchFamily="34" charset="-120"/>
              </a:rPr>
              <a:t>11 / 16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71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5A524"/>
                </a:solidFill>
                <a:latin typeface="IBM Plex Sans" pitchFamily="34" charset="0"/>
                <a:ea typeface="IBM Plex Sans" pitchFamily="34" charset="-122"/>
                <a:cs typeface="IBM Plex Sans" pitchFamily="34" charset="-120"/>
              </a:rPr>
              <a:t>REPOSITORIO</a:t>
            </a:r>
            <a:endParaRPr lang="en-US" sz="1200" dirty="0"/>
          </a:p>
        </p:txBody>
      </p:sp>
      <p:sp>
        <p:nvSpPr>
          <p:cNvPr id="3" name="Text 1"/>
          <p:cNvSpPr>
            <a:spLocks noGrp="1"/>
          </p:cNvSpPr>
          <p:nvPr>
            <p:ph type="title"/>
          </p:nvPr>
        </p:nvSpPr>
        <p:spPr>
          <a:xfrm>
            <a:off x="812800" y="873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DE9E0"/>
                </a:solidFill>
                <a:latin typeface="Oswald" pitchFamily="34" charset="0"/>
                <a:ea typeface="Oswald" pitchFamily="34" charset="-122"/>
                <a:cs typeface="Oswald" pitchFamily="34" charset="-120"/>
              </a:rPr>
              <a:t>Repositorio Git</a:t>
            </a:r>
            <a:endParaRPr lang="en-US" sz="3200" dirty="0"/>
          </a:p>
        </p:txBody>
      </p:sp>
      <p:sp>
        <p:nvSpPr>
          <p:cNvPr id="4" name="Shape 2"/>
          <p:cNvSpPr/>
          <p:nvPr/>
        </p:nvSpPr>
        <p:spPr>
          <a:xfrm>
            <a:off x="815975" y="1577876"/>
            <a:ext cx="7258050" cy="1260872"/>
          </a:xfrm>
          <a:prstGeom prst="roundRect">
            <a:avLst>
              <a:gd name="adj" fmla="val 7806"/>
            </a:avLst>
          </a:prstGeom>
          <a:solidFill>
            <a:srgbClr val="1E242C"/>
          </a:solidFill>
          <a:ln w="6350">
            <a:solidFill>
              <a:srgbClr val="2C333D"/>
            </a:solidFill>
            <a:prstDash val="solid"/>
          </a:ln>
        </p:spPr>
      </p:sp>
      <p:sp>
        <p:nvSpPr>
          <p:cNvPr id="5" name="Text 3"/>
          <p:cNvSpPr/>
          <p:nvPr/>
        </p:nvSpPr>
        <p:spPr>
          <a:xfrm>
            <a:off x="1022350" y="1784251"/>
            <a:ext cx="705065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/backend</a:t>
            </a:r>
            <a:endParaRPr lang="en-US" sz="1800" dirty="0"/>
          </a:p>
        </p:txBody>
      </p:sp>
      <p:sp>
        <p:nvSpPr>
          <p:cNvPr id="6" name="Text 4"/>
          <p:cNvSpPr/>
          <p:nvPr/>
        </p:nvSpPr>
        <p:spPr>
          <a:xfrm>
            <a:off x="1022350" y="2134691"/>
            <a:ext cx="7050659"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DE9E0"/>
                </a:solidFill>
                <a:latin typeface="IBM Plex Sans" pitchFamily="34" charset="0"/>
                <a:ea typeface="IBM Plex Sans" pitchFamily="34" charset="-122"/>
                <a:cs typeface="IBM Plex Sans" pitchFamily="34" charset="-120"/>
              </a:rPr>
              <a:t>Express y Prisma. En src: config, controllers, middlewares y routes. En prisma: schema, migraciones y seed.</a:t>
            </a:r>
            <a:endParaRPr lang="en-US" sz="1400" dirty="0"/>
          </a:p>
        </p:txBody>
      </p:sp>
      <p:sp>
        <p:nvSpPr>
          <p:cNvPr id="7" name="Shape 5"/>
          <p:cNvSpPr/>
          <p:nvPr/>
        </p:nvSpPr>
        <p:spPr>
          <a:xfrm>
            <a:off x="815975" y="2997498"/>
            <a:ext cx="7258050" cy="1012031"/>
          </a:xfrm>
          <a:prstGeom prst="roundRect">
            <a:avLst>
              <a:gd name="adj" fmla="val 9725"/>
            </a:avLst>
          </a:prstGeom>
          <a:solidFill>
            <a:srgbClr val="1E242C"/>
          </a:solidFill>
          <a:ln w="6350">
            <a:solidFill>
              <a:srgbClr val="2C333D"/>
            </a:solidFill>
            <a:prstDash val="solid"/>
          </a:ln>
        </p:spPr>
      </p:sp>
      <p:sp>
        <p:nvSpPr>
          <p:cNvPr id="8" name="Text 6"/>
          <p:cNvSpPr/>
          <p:nvPr/>
        </p:nvSpPr>
        <p:spPr>
          <a:xfrm>
            <a:off x="1022350" y="3203873"/>
            <a:ext cx="705065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/frontend</a:t>
            </a:r>
            <a:endParaRPr lang="en-US" sz="1800" dirty="0"/>
          </a:p>
        </p:txBody>
      </p:sp>
      <p:sp>
        <p:nvSpPr>
          <p:cNvPr id="9" name="Text 7"/>
          <p:cNvSpPr/>
          <p:nvPr/>
        </p:nvSpPr>
        <p:spPr>
          <a:xfrm>
            <a:off x="1022350" y="3554313"/>
            <a:ext cx="7050659"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DE9E0"/>
                </a:solidFill>
                <a:latin typeface="IBM Plex Sans" pitchFamily="34" charset="0"/>
                <a:ea typeface="IBM Plex Sans" pitchFamily="34" charset="-122"/>
                <a:cs typeface="IBM Plex Sans" pitchFamily="34" charset="-120"/>
              </a:rPr>
              <a:t>React y Vite. En src: components, context, pages, router, services y styles.</a:t>
            </a:r>
            <a:endParaRPr lang="en-US" sz="1400" dirty="0"/>
          </a:p>
        </p:txBody>
      </p:sp>
      <p:sp>
        <p:nvSpPr>
          <p:cNvPr id="10" name="Shape 8"/>
          <p:cNvSpPr/>
          <p:nvPr/>
        </p:nvSpPr>
        <p:spPr>
          <a:xfrm>
            <a:off x="815975" y="4168279"/>
            <a:ext cx="7258050" cy="1012031"/>
          </a:xfrm>
          <a:prstGeom prst="roundRect">
            <a:avLst>
              <a:gd name="adj" fmla="val 9725"/>
            </a:avLst>
          </a:prstGeom>
          <a:solidFill>
            <a:srgbClr val="1E242C"/>
          </a:solidFill>
          <a:ln w="6350">
            <a:solidFill>
              <a:srgbClr val="2C333D"/>
            </a:solidFill>
            <a:prstDash val="solid"/>
          </a:ln>
        </p:spPr>
      </p:sp>
      <p:sp>
        <p:nvSpPr>
          <p:cNvPr id="11" name="Text 9"/>
          <p:cNvSpPr/>
          <p:nvPr/>
        </p:nvSpPr>
        <p:spPr>
          <a:xfrm>
            <a:off x="1022350" y="4374654"/>
            <a:ext cx="705065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README.md</a:t>
            </a:r>
            <a:endParaRPr lang="en-US" sz="1800" dirty="0"/>
          </a:p>
        </p:txBody>
      </p:sp>
      <p:sp>
        <p:nvSpPr>
          <p:cNvPr id="12" name="Text 10"/>
          <p:cNvSpPr/>
          <p:nvPr/>
        </p:nvSpPr>
        <p:spPr>
          <a:xfrm>
            <a:off x="1022350" y="4725095"/>
            <a:ext cx="7050659"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DE9E0"/>
                </a:solidFill>
                <a:latin typeface="IBM Plex Sans" pitchFamily="34" charset="0"/>
                <a:ea typeface="IBM Plex Sans" pitchFamily="34" charset="-122"/>
                <a:cs typeface="IBM Plex Sans" pitchFamily="34" charset="-120"/>
              </a:rPr>
              <a:t>Descripción, stack, características e instalación y ejecución local.</a:t>
            </a:r>
            <a:endParaRPr lang="en-US" sz="1400" dirty="0"/>
          </a:p>
        </p:txBody>
      </p:sp>
      <p:sp>
        <p:nvSpPr>
          <p:cNvPr id="13" name="Shape 11"/>
          <p:cNvSpPr/>
          <p:nvPr/>
        </p:nvSpPr>
        <p:spPr>
          <a:xfrm>
            <a:off x="8334375" y="1577876"/>
            <a:ext cx="3041650" cy="1098451"/>
          </a:xfrm>
          <a:prstGeom prst="roundRect">
            <a:avLst>
              <a:gd name="adj" fmla="val 8960"/>
            </a:avLst>
          </a:prstGeom>
          <a:solidFill>
            <a:srgbClr val="1E242C"/>
          </a:solidFill>
          <a:ln w="6350">
            <a:solidFill>
              <a:srgbClr val="2C333D"/>
            </a:solidFill>
            <a:prstDash val="solid"/>
          </a:ln>
        </p:spPr>
      </p:sp>
      <p:sp>
        <p:nvSpPr>
          <p:cNvPr id="14" name="Text 12"/>
          <p:cNvSpPr/>
          <p:nvPr/>
        </p:nvSpPr>
        <p:spPr>
          <a:xfrm>
            <a:off x="8540750" y="1784251"/>
            <a:ext cx="2707767"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6EA8F0"/>
                </a:solidFill>
                <a:latin typeface="Oswald" pitchFamily="34" charset="0"/>
                <a:ea typeface="Oswald" pitchFamily="34" charset="-122"/>
                <a:cs typeface="Oswald" pitchFamily="34" charset="-120"/>
              </a:rPr>
              <a:t>main</a:t>
            </a:r>
            <a:endParaRPr lang="en-US" sz="3200" dirty="0"/>
          </a:p>
        </p:txBody>
      </p:sp>
      <p:sp>
        <p:nvSpPr>
          <p:cNvPr id="15" name="Text 13"/>
          <p:cNvSpPr/>
          <p:nvPr/>
        </p:nvSpPr>
        <p:spPr>
          <a:xfrm>
            <a:off x="8540750" y="2256631"/>
            <a:ext cx="270776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Rama única, publicada en GitHub</a:t>
            </a:r>
            <a:endParaRPr lang="en-US" sz="1200" dirty="0"/>
          </a:p>
        </p:txBody>
      </p:sp>
      <p:sp>
        <p:nvSpPr>
          <p:cNvPr id="16" name="Shape 14"/>
          <p:cNvSpPr/>
          <p:nvPr/>
        </p:nvSpPr>
        <p:spPr>
          <a:xfrm>
            <a:off x="8334375" y="2835077"/>
            <a:ext cx="3041650" cy="1098451"/>
          </a:xfrm>
          <a:prstGeom prst="roundRect">
            <a:avLst>
              <a:gd name="adj" fmla="val 8960"/>
            </a:avLst>
          </a:prstGeom>
          <a:solidFill>
            <a:srgbClr val="1E242C"/>
          </a:solidFill>
          <a:ln w="6350">
            <a:solidFill>
              <a:srgbClr val="2C333D"/>
            </a:solidFill>
            <a:prstDash val="solid"/>
          </a:ln>
        </p:spPr>
      </p:sp>
      <p:sp>
        <p:nvSpPr>
          <p:cNvPr id="17" name="Text 15"/>
          <p:cNvSpPr/>
          <p:nvPr/>
        </p:nvSpPr>
        <p:spPr>
          <a:xfrm>
            <a:off x="8540750" y="3041452"/>
            <a:ext cx="2707767"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6EA8F0"/>
                </a:solidFill>
                <a:latin typeface="Oswald" pitchFamily="34" charset="0"/>
                <a:ea typeface="Oswald" pitchFamily="34" charset="-122"/>
                <a:cs typeface="Oswald" pitchFamily="34" charset="-120"/>
              </a:rPr>
              <a:t>13</a:t>
            </a:r>
            <a:endParaRPr lang="en-US" sz="3200" dirty="0"/>
          </a:p>
        </p:txBody>
      </p:sp>
      <p:sp>
        <p:nvSpPr>
          <p:cNvPr id="18" name="Text 16"/>
          <p:cNvSpPr/>
          <p:nvPr/>
        </p:nvSpPr>
        <p:spPr>
          <a:xfrm>
            <a:off x="8540750" y="3513832"/>
            <a:ext cx="270776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Commits con prefijos feat, fix y style</a:t>
            </a:r>
            <a:endParaRPr lang="en-US" sz="1200" dirty="0"/>
          </a:p>
        </p:txBody>
      </p:sp>
      <p:sp>
        <p:nvSpPr>
          <p:cNvPr id="19" name="Shape 17"/>
          <p:cNvSpPr/>
          <p:nvPr/>
        </p:nvSpPr>
        <p:spPr>
          <a:xfrm>
            <a:off x="8334375" y="4092277"/>
            <a:ext cx="3041650" cy="1098451"/>
          </a:xfrm>
          <a:prstGeom prst="roundRect">
            <a:avLst>
              <a:gd name="adj" fmla="val 8960"/>
            </a:avLst>
          </a:prstGeom>
          <a:solidFill>
            <a:srgbClr val="1E242C"/>
          </a:solidFill>
          <a:ln w="6350">
            <a:solidFill>
              <a:srgbClr val="2C333D"/>
            </a:solidFill>
            <a:prstDash val="solid"/>
          </a:ln>
        </p:spPr>
      </p:sp>
      <p:sp>
        <p:nvSpPr>
          <p:cNvPr id="20" name="Text 18"/>
          <p:cNvSpPr/>
          <p:nvPr/>
        </p:nvSpPr>
        <p:spPr>
          <a:xfrm>
            <a:off x="8540750" y="4298652"/>
            <a:ext cx="2707767"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6EA8F0"/>
                </a:solidFill>
                <a:latin typeface="Oswald" pitchFamily="34" charset="0"/>
                <a:ea typeface="Oswald" pitchFamily="34" charset="-122"/>
                <a:cs typeface="Oswald" pitchFamily="34" charset="-120"/>
              </a:rPr>
              <a:t>1</a:t>
            </a:r>
            <a:endParaRPr lang="en-US" sz="3200" dirty="0"/>
          </a:p>
        </p:txBody>
      </p:sp>
      <p:sp>
        <p:nvSpPr>
          <p:cNvPr id="21" name="Text 19"/>
          <p:cNvSpPr/>
          <p:nvPr/>
        </p:nvSpPr>
        <p:spPr>
          <a:xfrm>
            <a:off x="8540750" y="4771033"/>
            <a:ext cx="270776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Monorepo con backend y frontend</a:t>
            </a:r>
            <a:endParaRPr lang="en-US" sz="1200" dirty="0"/>
          </a:p>
        </p:txBody>
      </p:sp>
      <p:sp>
        <p:nvSpPr>
          <p:cNvPr id="22" name="Text 2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Plataforma de Gestión Financiera · Avance Fase 2</a:t>
            </a:r>
            <a:endParaRPr lang="en-US" sz="1200" dirty="0"/>
          </a:p>
        </p:txBody>
      </p:sp>
      <p:sp>
        <p:nvSpPr>
          <p:cNvPr id="23" name="Text 21"/>
          <p:cNvSpPr/>
          <p:nvPr/>
        </p:nvSpPr>
        <p:spPr>
          <a:xfrm>
            <a:off x="9804400" y="6238280"/>
            <a:ext cx="1574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3ACB8"/>
                </a:solidFill>
                <a:latin typeface="IBM Plex Sans" pitchFamily="34" charset="0"/>
                <a:ea typeface="IBM Plex Sans" pitchFamily="34" charset="-122"/>
                <a:cs typeface="IBM Plex Sans" pitchFamily="34" charset="-120"/>
              </a:rPr>
              <a:t>12 / 16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71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5A524"/>
                </a:solidFill>
                <a:latin typeface="IBM Plex Sans" pitchFamily="34" charset="0"/>
                <a:ea typeface="IBM Plex Sans" pitchFamily="34" charset="-122"/>
                <a:cs typeface="IBM Plex Sans" pitchFamily="34" charset="-120"/>
              </a:rPr>
              <a:t>APORTE</a:t>
            </a:r>
            <a:endParaRPr lang="en-US" sz="1200" dirty="0"/>
          </a:p>
        </p:txBody>
      </p:sp>
      <p:sp>
        <p:nvSpPr>
          <p:cNvPr id="3" name="Text 1"/>
          <p:cNvSpPr>
            <a:spLocks noGrp="1"/>
          </p:cNvSpPr>
          <p:nvPr>
            <p:ph type="title"/>
          </p:nvPr>
        </p:nvSpPr>
        <p:spPr>
          <a:xfrm>
            <a:off x="812800" y="873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DE9E0"/>
                </a:solidFill>
                <a:latin typeface="Oswald" pitchFamily="34" charset="0"/>
                <a:ea typeface="Oswald" pitchFamily="34" charset="-122"/>
                <a:cs typeface="Oswald" pitchFamily="34" charset="-120"/>
              </a:rPr>
              <a:t>Aporte por integrante</a:t>
            </a:r>
            <a:endParaRPr lang="en-US" sz="3200" dirty="0"/>
          </a:p>
        </p:txBody>
      </p:sp>
      <p:sp>
        <p:nvSpPr>
          <p:cNvPr id="4" name="Shape 2"/>
          <p:cNvSpPr/>
          <p:nvPr/>
        </p:nvSpPr>
        <p:spPr>
          <a:xfrm>
            <a:off x="815975" y="1577876"/>
            <a:ext cx="10560050" cy="1093391"/>
          </a:xfrm>
          <a:prstGeom prst="roundRect">
            <a:avLst>
              <a:gd name="adj" fmla="val 9002"/>
            </a:avLst>
          </a:prstGeom>
          <a:solidFill>
            <a:srgbClr val="1E242C"/>
          </a:solidFill>
          <a:ln w="6350">
            <a:solidFill>
              <a:srgbClr val="2C333D"/>
            </a:solidFill>
            <a:prstDash val="solid"/>
          </a:ln>
        </p:spPr>
      </p:sp>
      <p:sp>
        <p:nvSpPr>
          <p:cNvPr id="5" name="Text 3"/>
          <p:cNvSpPr/>
          <p:nvPr/>
        </p:nvSpPr>
        <p:spPr>
          <a:xfrm>
            <a:off x="1022350" y="1784251"/>
            <a:ext cx="1045171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Contribuidores en GitHub</a:t>
            </a:r>
            <a:endParaRPr lang="en-US" sz="1800" dirty="0"/>
          </a:p>
        </p:txBody>
      </p:sp>
      <p:sp>
        <p:nvSpPr>
          <p:cNvPr id="6" name="Text 4"/>
          <p:cNvSpPr/>
          <p:nvPr/>
        </p:nvSpPr>
        <p:spPr>
          <a:xfrm>
            <a:off x="1022350" y="2188071"/>
            <a:ext cx="13208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DE9E0"/>
                </a:solidFill>
                <a:latin typeface="IBM Plex Sans" pitchFamily="34" charset="0"/>
                <a:ea typeface="IBM Plex Sans" pitchFamily="34" charset="-122"/>
                <a:cs typeface="IBM Plex Sans" pitchFamily="34" charset="-120"/>
              </a:rPr>
              <a:t>albertp07</a:t>
            </a:r>
            <a:endParaRPr lang="en-US" sz="1400" dirty="0"/>
          </a:p>
        </p:txBody>
      </p:sp>
      <p:sp>
        <p:nvSpPr>
          <p:cNvPr id="7" name="Shape 5"/>
          <p:cNvSpPr/>
          <p:nvPr/>
        </p:nvSpPr>
        <p:spPr>
          <a:xfrm>
            <a:off x="2444750" y="2160091"/>
            <a:ext cx="6540500" cy="304800"/>
          </a:xfrm>
          <a:prstGeom prst="roundRect">
            <a:avLst>
              <a:gd name="adj" fmla="val 16667"/>
            </a:avLst>
          </a:prstGeom>
          <a:solidFill>
            <a:srgbClr val="6EA8F0"/>
          </a:solidFill>
          <a:ln/>
        </p:spPr>
      </p:sp>
      <p:sp>
        <p:nvSpPr>
          <p:cNvPr id="8" name="Text 6"/>
          <p:cNvSpPr/>
          <p:nvPr/>
        </p:nvSpPr>
        <p:spPr>
          <a:xfrm>
            <a:off x="9137650" y="2188071"/>
            <a:ext cx="209296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DE9E0"/>
                </a:solidFill>
                <a:latin typeface="IBM Plex Sans" pitchFamily="34" charset="0"/>
                <a:ea typeface="IBM Plex Sans" pitchFamily="34" charset="-122"/>
                <a:cs typeface="IBM Plex Sans" pitchFamily="34" charset="-120"/>
              </a:rPr>
              <a:t>13 commits · 100%</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941141"/>
          <a:ext cx="10553700" cy="878483"/>
        </p:xfrm>
        <a:graphic>
          <a:graphicData uri="http://schemas.openxmlformats.org/drawingml/2006/table">
            <a:tbl>
              <a:tblPr/>
              <a:tblGrid>
                <a:gridCol w="1899666">
                  <a:extLst>
                    <a:ext uri="{9D8B030D-6E8A-4147-A177-3AD203B41FA5}">
                      <a16:colId xmlns:a16="http://schemas.microsoft.com/office/drawing/2014/main" val="20000"/>
                    </a:ext>
                  </a:extLst>
                </a:gridCol>
                <a:gridCol w="1266444">
                  <a:extLst>
                    <a:ext uri="{9D8B030D-6E8A-4147-A177-3AD203B41FA5}">
                      <a16:colId xmlns:a16="http://schemas.microsoft.com/office/drawing/2014/main" val="20001"/>
                    </a:ext>
                  </a:extLst>
                </a:gridCol>
                <a:gridCol w="1055370">
                  <a:extLst>
                    <a:ext uri="{9D8B030D-6E8A-4147-A177-3AD203B41FA5}">
                      <a16:colId xmlns:a16="http://schemas.microsoft.com/office/drawing/2014/main" val="20002"/>
                    </a:ext>
                  </a:extLst>
                </a:gridCol>
                <a:gridCol w="1899666">
                  <a:extLst>
                    <a:ext uri="{9D8B030D-6E8A-4147-A177-3AD203B41FA5}">
                      <a16:colId xmlns:a16="http://schemas.microsoft.com/office/drawing/2014/main" val="20003"/>
                    </a:ext>
                  </a:extLst>
                </a:gridCol>
                <a:gridCol w="4432554">
                  <a:extLst>
                    <a:ext uri="{9D8B030D-6E8A-4147-A177-3AD203B41FA5}">
                      <a16:colId xmlns:a16="http://schemas.microsoft.com/office/drawing/2014/main" val="20004"/>
                    </a:ext>
                  </a:extLst>
                </a:gridCol>
              </a:tblGrid>
              <a:tr h="332581">
                <a:tc>
                  <a:txBody>
                    <a:bodyPr/>
                    <a:lstStyle/>
                    <a:p>
                      <a:pPr marL="0" indent="0">
                        <a:lnSpc>
                          <a:spcPts val="1680"/>
                        </a:lnSpc>
                        <a:buNone/>
                      </a:pPr>
                      <a:r>
                        <a:rPr lang="en-US" sz="1200" b="1" dirty="0">
                          <a:solidFill>
                            <a:srgbClr val="F5A524"/>
                          </a:solidFill>
                          <a:latin typeface="IBM Plex Sans" pitchFamily="34" charset="0"/>
                          <a:ea typeface="IBM Plex Sans" pitchFamily="34" charset="-122"/>
                          <a:cs typeface="IBM Plex Sans" pitchFamily="34" charset="-120"/>
                        </a:rPr>
                        <a:t>Integrante</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595F65"/>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595F65"/>
                      </a:solidFill>
                      <a:prstDash val="solid"/>
                      <a:round/>
                      <a:headEnd type="none" w="med" len="med"/>
                      <a:tailEnd type="none" w="med" len="med"/>
                    </a:lnB>
                    <a:solidFill>
                      <a:srgbClr val="2C333D"/>
                    </a:solidFill>
                  </a:tcPr>
                </a:tc>
                <a:tc>
                  <a:txBody>
                    <a:bodyPr/>
                    <a:lstStyle/>
                    <a:p>
                      <a:pPr marL="0" indent="0">
                        <a:lnSpc>
                          <a:spcPts val="1680"/>
                        </a:lnSpc>
                        <a:buNone/>
                      </a:pPr>
                      <a:r>
                        <a:rPr lang="en-US" sz="1200" b="1" dirty="0">
                          <a:solidFill>
                            <a:srgbClr val="F5A524"/>
                          </a:solidFill>
                          <a:latin typeface="IBM Plex Sans" pitchFamily="34" charset="0"/>
                          <a:ea typeface="IBM Plex Sans" pitchFamily="34" charset="-122"/>
                          <a:cs typeface="IBM Plex Sans" pitchFamily="34" charset="-120"/>
                        </a:rPr>
                        <a:t>Commits</a:t>
                      </a:r>
                      <a:endParaRPr lang="en-US" sz="1200" dirty="0">
                        <a:latin typeface="IBM Plex Sans" charset="0"/>
                        <a:ea typeface="IBM Plex Sans" charset="0"/>
                        <a:cs typeface="IBM Plex Sans" charset="0"/>
                      </a:endParaRPr>
                    </a:p>
                  </a:txBody>
                  <a:tcPr marL="53340" marR="53340" marT="53340" marB="53340">
                    <a:lnL w="12700" cap="flat" cmpd="sng" algn="ctr">
                      <a:solidFill>
                        <a:srgbClr val="595F65"/>
                      </a:solidFill>
                      <a:prstDash val="solid"/>
                      <a:round/>
                      <a:headEnd type="none" w="med" len="med"/>
                      <a:tailEnd type="none" w="med" len="med"/>
                    </a:lnL>
                    <a:lnR w="12700" cap="flat" cmpd="sng" algn="ctr">
                      <a:solidFill>
                        <a:srgbClr val="595F65"/>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595F65"/>
                      </a:solidFill>
                      <a:prstDash val="solid"/>
                      <a:round/>
                      <a:headEnd type="none" w="med" len="med"/>
                      <a:tailEnd type="none" w="med" len="med"/>
                    </a:lnB>
                    <a:solidFill>
                      <a:srgbClr val="2C333D"/>
                    </a:solidFill>
                  </a:tcPr>
                </a:tc>
                <a:tc>
                  <a:txBody>
                    <a:bodyPr/>
                    <a:lstStyle/>
                    <a:p>
                      <a:pPr marL="0" indent="0">
                        <a:lnSpc>
                          <a:spcPts val="1680"/>
                        </a:lnSpc>
                        <a:buNone/>
                      </a:pPr>
                      <a:r>
                        <a:rPr lang="en-US" sz="1200" b="1" dirty="0">
                          <a:solidFill>
                            <a:srgbClr val="F5A524"/>
                          </a:solidFill>
                          <a:latin typeface="IBM Plex Sans" pitchFamily="34" charset="0"/>
                          <a:ea typeface="IBM Plex Sans" pitchFamily="34" charset="-122"/>
                          <a:cs typeface="IBM Plex Sans" pitchFamily="34" charset="-120"/>
                        </a:rPr>
                        <a:t>PRs</a:t>
                      </a:r>
                      <a:endParaRPr lang="en-US" sz="1200" dirty="0">
                        <a:latin typeface="IBM Plex Sans" charset="0"/>
                        <a:ea typeface="IBM Plex Sans" charset="0"/>
                        <a:cs typeface="IBM Plex Sans" charset="0"/>
                      </a:endParaRPr>
                    </a:p>
                  </a:txBody>
                  <a:tcPr marL="53340" marR="53340" marT="53340" marB="53340">
                    <a:lnL w="12700" cap="flat" cmpd="sng" algn="ctr">
                      <a:solidFill>
                        <a:srgbClr val="595F65"/>
                      </a:solidFill>
                      <a:prstDash val="solid"/>
                      <a:round/>
                      <a:headEnd type="none" w="med" len="med"/>
                      <a:tailEnd type="none" w="med" len="med"/>
                    </a:lnL>
                    <a:lnR w="12700" cap="flat" cmpd="sng" algn="ctr">
                      <a:solidFill>
                        <a:srgbClr val="595F65"/>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595F65"/>
                      </a:solidFill>
                      <a:prstDash val="solid"/>
                      <a:round/>
                      <a:headEnd type="none" w="med" len="med"/>
                      <a:tailEnd type="none" w="med" len="med"/>
                    </a:lnB>
                    <a:solidFill>
                      <a:srgbClr val="2C333D"/>
                    </a:solidFill>
                  </a:tcPr>
                </a:tc>
                <a:tc>
                  <a:txBody>
                    <a:bodyPr/>
                    <a:lstStyle/>
                    <a:p>
                      <a:pPr marL="0" indent="0">
                        <a:lnSpc>
                          <a:spcPts val="1680"/>
                        </a:lnSpc>
                        <a:buNone/>
                      </a:pPr>
                      <a:r>
                        <a:rPr lang="en-US" sz="1200" b="1" dirty="0">
                          <a:solidFill>
                            <a:srgbClr val="F5A524"/>
                          </a:solidFill>
                          <a:latin typeface="IBM Plex Sans" pitchFamily="34" charset="0"/>
                          <a:ea typeface="IBM Plex Sans" pitchFamily="34" charset="-122"/>
                          <a:cs typeface="IBM Plex Sans" pitchFamily="34" charset="-120"/>
                        </a:rPr>
                        <a:t>Issues cerrados</a:t>
                      </a:r>
                      <a:endParaRPr lang="en-US" sz="1200" dirty="0">
                        <a:latin typeface="IBM Plex Sans" charset="0"/>
                        <a:ea typeface="IBM Plex Sans" charset="0"/>
                        <a:cs typeface="IBM Plex Sans" charset="0"/>
                      </a:endParaRPr>
                    </a:p>
                  </a:txBody>
                  <a:tcPr marL="53340" marR="53340" marT="53340" marB="53340">
                    <a:lnL w="12700" cap="flat" cmpd="sng" algn="ctr">
                      <a:solidFill>
                        <a:srgbClr val="595F65"/>
                      </a:solidFill>
                      <a:prstDash val="solid"/>
                      <a:round/>
                      <a:headEnd type="none" w="med" len="med"/>
                      <a:tailEnd type="none" w="med" len="med"/>
                    </a:lnL>
                    <a:lnR w="12700" cap="flat" cmpd="sng" algn="ctr">
                      <a:solidFill>
                        <a:srgbClr val="595F65"/>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595F65"/>
                      </a:solidFill>
                      <a:prstDash val="solid"/>
                      <a:round/>
                      <a:headEnd type="none" w="med" len="med"/>
                      <a:tailEnd type="none" w="med" len="med"/>
                    </a:lnB>
                    <a:solidFill>
                      <a:srgbClr val="2C333D"/>
                    </a:solidFill>
                  </a:tcPr>
                </a:tc>
                <a:tc>
                  <a:txBody>
                    <a:bodyPr/>
                    <a:lstStyle/>
                    <a:p>
                      <a:pPr marL="0" indent="0">
                        <a:lnSpc>
                          <a:spcPts val="1680"/>
                        </a:lnSpc>
                        <a:buNone/>
                      </a:pPr>
                      <a:r>
                        <a:rPr lang="en-US" sz="1200" b="1" dirty="0">
                          <a:solidFill>
                            <a:srgbClr val="F5A524"/>
                          </a:solidFill>
                          <a:latin typeface="IBM Plex Sans" pitchFamily="34" charset="0"/>
                          <a:ea typeface="IBM Plex Sans" pitchFamily="34" charset="-122"/>
                          <a:cs typeface="IBM Plex Sans" pitchFamily="34" charset="-120"/>
                        </a:rPr>
                        <a:t>Módulo a cargo</a:t>
                      </a:r>
                      <a:endParaRPr lang="en-US" sz="1200" dirty="0">
                        <a:latin typeface="IBM Plex Sans" charset="0"/>
                        <a:ea typeface="IBM Plex Sans" charset="0"/>
                        <a:cs typeface="IBM Plex Sans" charset="0"/>
                      </a:endParaRPr>
                    </a:p>
                  </a:txBody>
                  <a:tcPr marL="53340" marR="53340" marT="53340" marB="53340">
                    <a:lnL w="12700" cap="flat" cmpd="sng" algn="ctr">
                      <a:solidFill>
                        <a:srgbClr val="595F65"/>
                      </a:solidFill>
                      <a:prstDash val="solid"/>
                      <a:round/>
                      <a:headEnd type="none" w="med" len="med"/>
                      <a:tailEnd type="none" w="med" len="med"/>
                    </a:lnL>
                    <a:lnR w="12700" cap="flat" cmpd="sng" algn="ctr">
                      <a:solidFill>
                        <a:srgbClr val="595F65"/>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595F65"/>
                      </a:solidFill>
                      <a:prstDash val="solid"/>
                      <a:round/>
                      <a:headEnd type="none" w="med" len="med"/>
                      <a:tailEnd type="none" w="med" len="med"/>
                    </a:lnB>
                    <a:solidFill>
                      <a:srgbClr val="2C333D"/>
                    </a:solidFill>
                  </a:tcPr>
                </a:tc>
                <a:extLst>
                  <a:ext uri="{0D108BD9-81ED-4DB2-BD59-A6C34878D82A}">
                    <a16:rowId xmlns:a16="http://schemas.microsoft.com/office/drawing/2014/main" val="10000"/>
                  </a:ext>
                </a:extLst>
              </a:tr>
              <a:tr h="545902">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Albert Peña</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595F65"/>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13</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595F65"/>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595F65"/>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595F65"/>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Full-stack completo: backend, frontend, base de datos y despliegue</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595F65"/>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extLst>
                  <a:ext uri="{0D108BD9-81ED-4DB2-BD59-A6C34878D82A}">
                    <a16:rowId xmlns:a16="http://schemas.microsoft.com/office/drawing/2014/main" val="10001"/>
                  </a:ext>
                </a:extLst>
              </a:tr>
            </a:tbl>
          </a:graphicData>
        </a:graphic>
      </p:graphicFrame>
      <p:sp>
        <p:nvSpPr>
          <p:cNvPr id="10" name="Text 7"/>
          <p:cNvSpPr/>
          <p:nvPr/>
        </p:nvSpPr>
        <p:spPr>
          <a:xfrm>
            <a:off x="812800" y="4073624"/>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3ACB8"/>
                </a:solidFill>
                <a:latin typeface="IBM Plex Sans" pitchFamily="34" charset="0"/>
                <a:ea typeface="IBM Plex Sans" pitchFamily="34" charset="-122"/>
                <a:cs typeface="IBM Plex Sans" pitchFamily="34" charset="-120"/>
              </a:rPr>
              <a:t>Trabajo individual: todos los commits son de un solo autor y no hay pull requests porque se trabaja sobre main.</a:t>
            </a:r>
            <a:endParaRPr lang="en-US" sz="1400" dirty="0"/>
          </a:p>
        </p:txBody>
      </p:sp>
      <p:sp>
        <p:nvSpPr>
          <p:cNvPr id="11" name="Text 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Plataforma de Gestión Financiera · Avance Fase 2</a:t>
            </a:r>
            <a:endParaRPr lang="en-US" sz="1200" dirty="0"/>
          </a:p>
        </p:txBody>
      </p:sp>
      <p:sp>
        <p:nvSpPr>
          <p:cNvPr id="12" name="Text 9"/>
          <p:cNvSpPr/>
          <p:nvPr/>
        </p:nvSpPr>
        <p:spPr>
          <a:xfrm>
            <a:off x="9804400" y="6238280"/>
            <a:ext cx="1574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3ACB8"/>
                </a:solidFill>
                <a:latin typeface="IBM Plex Sans" pitchFamily="34" charset="0"/>
                <a:ea typeface="IBM Plex Sans" pitchFamily="34" charset="-122"/>
                <a:cs typeface="IBM Plex Sans" pitchFamily="34" charset="-120"/>
              </a:rPr>
              <a:t>13 / 16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71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5A524"/>
                </a:solidFill>
                <a:latin typeface="IBM Plex Sans" pitchFamily="34" charset="0"/>
                <a:ea typeface="IBM Plex Sans" pitchFamily="34" charset="-122"/>
                <a:cs typeface="IBM Plex Sans" pitchFamily="34" charset="-120"/>
              </a:rPr>
              <a:t>RIESGOS</a:t>
            </a:r>
            <a:endParaRPr lang="en-US" sz="1200" dirty="0"/>
          </a:p>
        </p:txBody>
      </p:sp>
      <p:sp>
        <p:nvSpPr>
          <p:cNvPr id="3" name="Text 1"/>
          <p:cNvSpPr>
            <a:spLocks noGrp="1"/>
          </p:cNvSpPr>
          <p:nvPr>
            <p:ph type="title"/>
          </p:nvPr>
        </p:nvSpPr>
        <p:spPr>
          <a:xfrm>
            <a:off x="812800" y="873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DE9E0"/>
                </a:solidFill>
                <a:latin typeface="Oswald" pitchFamily="34" charset="0"/>
                <a:ea typeface="Oswald" pitchFamily="34" charset="-122"/>
                <a:cs typeface="Oswald" pitchFamily="34" charset="-120"/>
              </a:rPr>
              <a:t>Riesgos y plan al informe final</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36601"/>
          <a:ext cx="10553700" cy="1970286"/>
        </p:xfrm>
        <a:graphic>
          <a:graphicData uri="http://schemas.openxmlformats.org/drawingml/2006/table">
            <a:tbl>
              <a:tblPr/>
              <a:tblGrid>
                <a:gridCol w="4432554">
                  <a:extLst>
                    <a:ext uri="{9D8B030D-6E8A-4147-A177-3AD203B41FA5}">
                      <a16:colId xmlns:a16="http://schemas.microsoft.com/office/drawing/2014/main" val="20000"/>
                    </a:ext>
                  </a:extLst>
                </a:gridCol>
                <a:gridCol w="6121146">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F5A524"/>
                          </a:solidFill>
                          <a:latin typeface="IBM Plex Sans" pitchFamily="34" charset="0"/>
                          <a:ea typeface="IBM Plex Sans" pitchFamily="34" charset="-122"/>
                          <a:cs typeface="IBM Plex Sans" pitchFamily="34" charset="-120"/>
                        </a:rPr>
                        <a:t>Riesgo</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595F65"/>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595F65"/>
                      </a:solidFill>
                      <a:prstDash val="solid"/>
                      <a:round/>
                      <a:headEnd type="none" w="med" len="med"/>
                      <a:tailEnd type="none" w="med" len="med"/>
                    </a:lnB>
                    <a:solidFill>
                      <a:srgbClr val="2C333D"/>
                    </a:solidFill>
                  </a:tcPr>
                </a:tc>
                <a:tc>
                  <a:txBody>
                    <a:bodyPr/>
                    <a:lstStyle/>
                    <a:p>
                      <a:pPr marL="0" indent="0">
                        <a:lnSpc>
                          <a:spcPts val="1680"/>
                        </a:lnSpc>
                        <a:buNone/>
                      </a:pPr>
                      <a:r>
                        <a:rPr lang="en-US" sz="1200" b="1" dirty="0">
                          <a:solidFill>
                            <a:srgbClr val="F5A524"/>
                          </a:solidFill>
                          <a:latin typeface="IBM Plex Sans" pitchFamily="34" charset="0"/>
                          <a:ea typeface="IBM Plex Sans" pitchFamily="34" charset="-122"/>
                          <a:cs typeface="IBM Plex Sans" pitchFamily="34" charset="-120"/>
                        </a:rPr>
                        <a:t>Mitigación</a:t>
                      </a:r>
                      <a:endParaRPr lang="en-US" sz="1200" dirty="0">
                        <a:latin typeface="IBM Plex Sans" charset="0"/>
                        <a:ea typeface="IBM Plex Sans" charset="0"/>
                        <a:cs typeface="IBM Plex Sans" charset="0"/>
                      </a:endParaRPr>
                    </a:p>
                  </a:txBody>
                  <a:tcPr marL="53340" marR="53340" marT="53340" marB="53340">
                    <a:lnL w="12700" cap="flat" cmpd="sng" algn="ctr">
                      <a:solidFill>
                        <a:srgbClr val="595F65"/>
                      </a:solidFill>
                      <a:prstDash val="solid"/>
                      <a:round/>
                      <a:headEnd type="none" w="med" len="med"/>
                      <a:tailEnd type="none" w="med" len="med"/>
                    </a:lnL>
                    <a:lnR w="12700" cap="flat" cmpd="sng" algn="ctr">
                      <a:solidFill>
                        <a:srgbClr val="595F65"/>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595F65"/>
                      </a:solidFill>
                      <a:prstDash val="solid"/>
                      <a:round/>
                      <a:headEnd type="none" w="med" len="med"/>
                      <a:tailEnd type="none" w="med" len="med"/>
                    </a:lnB>
                    <a:solidFill>
                      <a:srgbClr val="2C333D"/>
                    </a:solidFill>
                  </a:tcPr>
                </a:tc>
                <a:extLst>
                  <a:ext uri="{0D108BD9-81ED-4DB2-BD59-A6C34878D82A}">
                    <a16:rowId xmlns:a16="http://schemas.microsoft.com/office/drawing/2014/main" val="10000"/>
                  </a:ext>
                </a:extLst>
              </a:tr>
              <a:tr h="545902">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Trabajo individual: un atraso en otro ramo o una indisposición detiene todo el avance</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595F65"/>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Priorizar el núcleo (cálculos y registro), mantener holgura en el Gantt y subir commits con frecuencia</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595F65"/>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extLst>
                  <a:ext uri="{0D108BD9-81ED-4DB2-BD59-A6C34878D82A}">
                    <a16:rowId xmlns:a16="http://schemas.microsoft.com/office/drawing/2014/main" val="10001"/>
                  </a:ext>
                </a:extLst>
              </a:tr>
              <a:tr h="545902">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Errores en los cálculos financieros (IVA, monto líquido, descuento de combustible), hoy probados a mano</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Pruebas unitarias automatizadas con casos reales y criterios de aceptación por módulo</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7494C"/>
                      </a:solidFill>
                      <a:prstDash val="solid"/>
                      <a:round/>
                      <a:headEnd type="none" w="med" len="med"/>
                      <a:tailEnd type="none" w="med" len="med"/>
                    </a:lnR>
                    <a:lnT w="12700" cap="flat" cmpd="sng" algn="ctr">
                      <a:solidFill>
                        <a:srgbClr val="4E5358"/>
                      </a:solidFill>
                      <a:prstDash val="solid"/>
                      <a:round/>
                      <a:headEnd type="none" w="med" len="med"/>
                      <a:tailEnd type="none" w="med" len="med"/>
                    </a:lnT>
                    <a:lnB w="12700" cap="flat" cmpd="sng" algn="ctr">
                      <a:solidFill>
                        <a:srgbClr val="47494C"/>
                      </a:solidFill>
                      <a:prstDash val="solid"/>
                      <a:round/>
                      <a:headEnd type="none" w="med" len="med"/>
                      <a:tailEnd type="none" w="med" len="med"/>
                    </a:lnB>
                    <a:solidFill>
                      <a:srgbClr val="14171C"/>
                    </a:solidFill>
                  </a:tcPr>
                </a:tc>
                <a:extLst>
                  <a:ext uri="{0D108BD9-81ED-4DB2-BD59-A6C34878D82A}">
                    <a16:rowId xmlns:a16="http://schemas.microsoft.com/office/drawing/2014/main" val="10002"/>
                  </a:ext>
                </a:extLst>
              </a:tr>
              <a:tr h="545902">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Backend y base de datos solo en el equipo local, y un único usuario de validación</a:t>
                      </a:r>
                      <a:endParaRPr lang="en-US" sz="1200" dirty="0">
                        <a:latin typeface="IBM Plex Sans" charset="0"/>
                        <a:ea typeface="IBM Plex Sans" charset="0"/>
                        <a:cs typeface="IBM Plex Sans" charset="0"/>
                      </a:endParaRPr>
                    </a:p>
                  </a:txBody>
                  <a:tcPr marL="53340" marR="53340" marT="53340" marB="53340">
                    <a:lnL w="12700" cap="flat" cmpd="sng" algn="ctr">
                      <a:solidFill>
                        <a:srgbClr val="47494C"/>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tc>
                  <a:txBody>
                    <a:bodyPr/>
                    <a:lstStyle/>
                    <a:p>
                      <a:pPr marL="0" indent="0">
                        <a:lnSpc>
                          <a:spcPts val="1680"/>
                        </a:lnSpc>
                        <a:buNone/>
                      </a:pPr>
                      <a:r>
                        <a:rPr lang="en-US" sz="1200" dirty="0">
                          <a:solidFill>
                            <a:srgbClr val="EDE9E0"/>
                          </a:solidFill>
                          <a:latin typeface="IBM Plex Sans" pitchFamily="34" charset="0"/>
                          <a:ea typeface="IBM Plex Sans" pitchFamily="34" charset="-122"/>
                          <a:cs typeface="IBM Plex Sans" pitchFamily="34" charset="-120"/>
                        </a:rPr>
                        <a:t>Respaldo de la base de datos, video de respaldo de la demo y validaciones calendarizadas con criterios</a:t>
                      </a:r>
                      <a:endParaRPr lang="en-US" sz="1200" dirty="0">
                        <a:latin typeface="IBM Plex Sans" charset="0"/>
                        <a:ea typeface="IBM Plex Sans" charset="0"/>
                        <a:cs typeface="IBM Plex Sans" charset="0"/>
                      </a:endParaRPr>
                    </a:p>
                  </a:txBody>
                  <a:tcPr marL="53340" marR="53340" marT="53340" marB="53340">
                    <a:lnL w="12700" cap="flat" cmpd="sng" algn="ctr">
                      <a:solidFill>
                        <a:srgbClr val="4E5358"/>
                      </a:solidFill>
                      <a:prstDash val="solid"/>
                      <a:round/>
                      <a:headEnd type="none" w="med" len="med"/>
                      <a:tailEnd type="none" w="med" len="med"/>
                    </a:lnL>
                    <a:lnR w="12700" cap="flat" cmpd="sng" algn="ctr">
                      <a:solidFill>
                        <a:srgbClr val="4E5358"/>
                      </a:solidFill>
                      <a:prstDash val="solid"/>
                      <a:round/>
                      <a:headEnd type="none" w="med" len="med"/>
                      <a:tailEnd type="none" w="med" len="med"/>
                    </a:lnR>
                    <a:lnT w="12700" cap="flat" cmpd="sng" algn="ctr">
                      <a:solidFill>
                        <a:srgbClr val="47494C"/>
                      </a:solidFill>
                      <a:prstDash val="solid"/>
                      <a:round/>
                      <a:headEnd type="none" w="med" len="med"/>
                      <a:tailEnd type="none" w="med" len="med"/>
                    </a:lnT>
                    <a:lnB w="12700" cap="flat" cmpd="sng" algn="ctr">
                      <a:solidFill>
                        <a:srgbClr val="4E5358"/>
                      </a:solidFill>
                      <a:prstDash val="solid"/>
                      <a:round/>
                      <a:headEnd type="none" w="med" len="med"/>
                      <a:tailEnd type="none" w="med" len="med"/>
                    </a:lnB>
                    <a:solidFill>
                      <a:srgbClr val="1E242C"/>
                    </a:solidFill>
                  </a:tcPr>
                </a:tc>
                <a:extLst>
                  <a:ext uri="{0D108BD9-81ED-4DB2-BD59-A6C34878D82A}">
                    <a16:rowId xmlns:a16="http://schemas.microsoft.com/office/drawing/2014/main" val="10003"/>
                  </a:ext>
                </a:extLst>
              </a:tr>
            </a:tbl>
          </a:graphicData>
        </a:graphic>
      </p:graphicFrame>
      <p:sp>
        <p:nvSpPr>
          <p:cNvPr id="5" name="Text 2"/>
          <p:cNvSpPr/>
          <p:nvPr/>
        </p:nvSpPr>
        <p:spPr>
          <a:xfrm>
            <a:off x="812800" y="3710087"/>
            <a:ext cx="1088339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A524"/>
                </a:solidFill>
                <a:latin typeface="Oswald" pitchFamily="34" charset="0"/>
                <a:ea typeface="Oswald" pitchFamily="34" charset="-122"/>
                <a:cs typeface="Oswald" pitchFamily="34" charset="-120"/>
              </a:rPr>
              <a:t>Compromiso para la semana 15</a:t>
            </a:r>
            <a:endParaRPr lang="en-US" sz="1800" dirty="0"/>
          </a:p>
        </p:txBody>
      </p:sp>
      <p:sp>
        <p:nvSpPr>
          <p:cNvPr id="6" name="Text 3"/>
          <p:cNvSpPr/>
          <p:nvPr/>
        </p:nvSpPr>
        <p:spPr>
          <a:xfrm>
            <a:off x="815975" y="4190702"/>
            <a:ext cx="2520950" cy="737791"/>
          </a:xfrm>
          <a:prstGeom prst="roundRect">
            <a:avLst>
              <a:gd name="adj" fmla="val 13340"/>
            </a:avLst>
          </a:prstGeom>
          <a:solidFill>
            <a:srgbClr val="1E242C"/>
          </a:solidFill>
          <a:ln w="6350">
            <a:solidFill>
              <a:srgbClr val="2C333D"/>
            </a:solidFill>
            <a:prstDash val="solid"/>
          </a:ln>
        </p:spPr>
        <p:txBody>
          <a:bodyPr wrap="square" lIns="126747" tIns="126747" rIns="60453" bIns="101347"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Pruebas unitarias automatizadas de los cálculos</a:t>
            </a:r>
            <a:endParaRPr lang="en-US" sz="1200" dirty="0"/>
          </a:p>
        </p:txBody>
      </p:sp>
      <p:sp>
        <p:nvSpPr>
          <p:cNvPr id="7" name="Text 4"/>
          <p:cNvSpPr/>
          <p:nvPr/>
        </p:nvSpPr>
        <p:spPr>
          <a:xfrm>
            <a:off x="3495675" y="4190702"/>
            <a:ext cx="2520950" cy="737791"/>
          </a:xfrm>
          <a:prstGeom prst="roundRect">
            <a:avLst>
              <a:gd name="adj" fmla="val 13340"/>
            </a:avLst>
          </a:prstGeom>
          <a:solidFill>
            <a:srgbClr val="1E242C"/>
          </a:solidFill>
          <a:ln w="6350">
            <a:solidFill>
              <a:srgbClr val="2C333D"/>
            </a:solidFill>
            <a:prstDash val="solid"/>
          </a:ln>
        </p:spPr>
        <p:txBody>
          <a:bodyPr wrap="square" lIns="126747" tIns="126747" rIns="60453" bIns="101347"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Exportación de reportes en el panel admin</a:t>
            </a:r>
            <a:endParaRPr lang="en-US" sz="1200" dirty="0"/>
          </a:p>
        </p:txBody>
      </p:sp>
      <p:sp>
        <p:nvSpPr>
          <p:cNvPr id="8" name="Text 5"/>
          <p:cNvSpPr/>
          <p:nvPr/>
        </p:nvSpPr>
        <p:spPr>
          <a:xfrm>
            <a:off x="6175375" y="4190702"/>
            <a:ext cx="2520950" cy="737791"/>
          </a:xfrm>
          <a:prstGeom prst="roundRect">
            <a:avLst>
              <a:gd name="adj" fmla="val 13340"/>
            </a:avLst>
          </a:prstGeom>
          <a:solidFill>
            <a:srgbClr val="1E242C"/>
          </a:solidFill>
          <a:ln w="6350">
            <a:solidFill>
              <a:srgbClr val="2C333D"/>
            </a:solidFill>
            <a:prstDash val="solid"/>
          </a:ln>
        </p:spPr>
        <p:txBody>
          <a:bodyPr wrap="square" lIns="126747" tIns="126747" rIns="60453" bIns="101347"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Plan de pruebas e informe con referencias e hitos</a:t>
            </a:r>
            <a:endParaRPr lang="en-US" sz="1200" dirty="0"/>
          </a:p>
        </p:txBody>
      </p:sp>
      <p:sp>
        <p:nvSpPr>
          <p:cNvPr id="9" name="Text 6"/>
          <p:cNvSpPr/>
          <p:nvPr/>
        </p:nvSpPr>
        <p:spPr>
          <a:xfrm>
            <a:off x="8855075" y="4190702"/>
            <a:ext cx="2520950" cy="737791"/>
          </a:xfrm>
          <a:prstGeom prst="roundRect">
            <a:avLst>
              <a:gd name="adj" fmla="val 13340"/>
            </a:avLst>
          </a:prstGeom>
          <a:solidFill>
            <a:srgbClr val="1E242C"/>
          </a:solidFill>
          <a:ln w="6350">
            <a:solidFill>
              <a:srgbClr val="2C333D"/>
            </a:solidFill>
            <a:prstDash val="solid"/>
          </a:ln>
        </p:spPr>
        <p:txBody>
          <a:bodyPr wrap="square" lIns="126747" tIns="126747" rIns="60453" bIns="101347" rtlCol="0" anchor="t">
            <a:normAutofit/>
          </a:bodyPr>
          <a:lstStyle/>
          <a:p>
            <a:pPr marL="0" indent="0" algn="l">
              <a:lnSpc>
                <a:spcPts val="1680"/>
              </a:lnSpc>
              <a:buNone/>
            </a:pPr>
            <a:r>
              <a:rPr lang="en-US" sz="1200" dirty="0">
                <a:solidFill>
                  <a:srgbClr val="EDE9E0"/>
                </a:solidFill>
                <a:latin typeface="IBM Plex Sans" pitchFamily="34" charset="0"/>
                <a:ea typeface="IBM Plex Sans" pitchFamily="34" charset="-122"/>
                <a:cs typeface="IBM Plex Sans" pitchFamily="34" charset="-120"/>
              </a:rPr>
              <a:t>README y documentación final actualizados</a:t>
            </a:r>
            <a:endParaRPr lang="en-US" sz="1200" dirty="0"/>
          </a:p>
        </p:txBody>
      </p:sp>
      <p:sp>
        <p:nvSpPr>
          <p:cNvPr id="10" name="Text 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Plataforma de Gestión Financiera · Avance Fase 2</a:t>
            </a:r>
            <a:endParaRPr lang="en-US" sz="1200" dirty="0"/>
          </a:p>
        </p:txBody>
      </p:sp>
      <p:sp>
        <p:nvSpPr>
          <p:cNvPr id="11" name="Text 8"/>
          <p:cNvSpPr/>
          <p:nvPr/>
        </p:nvSpPr>
        <p:spPr>
          <a:xfrm>
            <a:off x="9804400" y="6238280"/>
            <a:ext cx="1574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3ACB8"/>
                </a:solidFill>
                <a:latin typeface="IBM Plex Sans" pitchFamily="34" charset="0"/>
                <a:ea typeface="IBM Plex Sans" pitchFamily="34" charset="-122"/>
                <a:cs typeface="IBM Plex Sans" pitchFamily="34" charset="-120"/>
              </a:rPr>
              <a:t>14 / 16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A524"/>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4171C"/>
                </a:solidFill>
                <a:latin typeface="IBM Plex Sans" pitchFamily="34" charset="0"/>
                <a:ea typeface="IBM Plex Sans" pitchFamily="34" charset="-122"/>
                <a:cs typeface="IBM Plex Sans" pitchFamily="34" charset="-120"/>
              </a:rPr>
              <a:t>CONCLUSIONS</a:t>
            </a:r>
            <a:endParaRPr lang="en-US" sz="1200" dirty="0"/>
          </a:p>
        </p:txBody>
      </p:sp>
      <p:sp>
        <p:nvSpPr>
          <p:cNvPr id="3" name="Text 1"/>
          <p:cNvSpPr>
            <a:spLocks noGrp="1"/>
          </p:cNvSpPr>
          <p:nvPr>
            <p:ph type="title"/>
          </p:nvPr>
        </p:nvSpPr>
        <p:spPr>
          <a:xfrm>
            <a:off x="812800" y="873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171C"/>
                </a:solidFill>
                <a:latin typeface="Oswald" pitchFamily="34" charset="0"/>
                <a:ea typeface="Oswald" pitchFamily="34" charset="-122"/>
                <a:cs typeface="Oswald" pitchFamily="34" charset="-120"/>
              </a:rPr>
              <a:t>Individual conclusions</a:t>
            </a:r>
            <a:endParaRPr lang="en-US" sz="3200" dirty="0"/>
          </a:p>
        </p:txBody>
      </p:sp>
      <p:sp>
        <p:nvSpPr>
          <p:cNvPr id="4" name="Text 2"/>
          <p:cNvSpPr/>
          <p:nvPr/>
        </p:nvSpPr>
        <p:spPr>
          <a:xfrm>
            <a:off x="812800" y="1625501"/>
            <a:ext cx="660400"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14171C"/>
                </a:solidFill>
                <a:latin typeface="Oswald" pitchFamily="34" charset="0"/>
                <a:ea typeface="Oswald" pitchFamily="34" charset="-122"/>
                <a:cs typeface="Oswald" pitchFamily="34" charset="-120"/>
              </a:rPr>
              <a:t>1</a:t>
            </a:r>
            <a:endParaRPr lang="en-US" sz="4400" dirty="0"/>
          </a:p>
        </p:txBody>
      </p:sp>
      <p:sp>
        <p:nvSpPr>
          <p:cNvPr id="5" name="Text 3"/>
          <p:cNvSpPr/>
          <p:nvPr/>
        </p:nvSpPr>
        <p:spPr>
          <a:xfrm>
            <a:off x="1625600" y="1625501"/>
            <a:ext cx="10046208" cy="642541"/>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14171C"/>
                </a:solidFill>
                <a:latin typeface="IBM Plex Sans" pitchFamily="34" charset="0"/>
                <a:ea typeface="IBM Plex Sans" pitchFamily="34" charset="-122"/>
                <a:cs typeface="IBM Plex Sans" pitchFamily="34" charset="-120"/>
              </a:rPr>
              <a:t>Turning a real problem, my father's daily work as a courier, into precise business rules before coding made the system more useful and easier to validate.</a:t>
            </a:r>
            <a:endParaRPr lang="en-US" sz="1800" dirty="0"/>
          </a:p>
        </p:txBody>
      </p:sp>
      <p:sp>
        <p:nvSpPr>
          <p:cNvPr id="6" name="Text 4"/>
          <p:cNvSpPr/>
          <p:nvPr/>
        </p:nvSpPr>
        <p:spPr>
          <a:xfrm>
            <a:off x="812800" y="2547441"/>
            <a:ext cx="660400"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14171C"/>
                </a:solidFill>
                <a:latin typeface="Oswald" pitchFamily="34" charset="0"/>
                <a:ea typeface="Oswald" pitchFamily="34" charset="-122"/>
                <a:cs typeface="Oswald" pitchFamily="34" charset="-120"/>
              </a:rPr>
              <a:t>2</a:t>
            </a:r>
            <a:endParaRPr lang="en-US" sz="4400" dirty="0"/>
          </a:p>
        </p:txBody>
      </p:sp>
      <p:sp>
        <p:nvSpPr>
          <p:cNvPr id="7" name="Text 5"/>
          <p:cNvSpPr/>
          <p:nvPr/>
        </p:nvSpPr>
        <p:spPr>
          <a:xfrm>
            <a:off x="1625600" y="2547441"/>
            <a:ext cx="10046208" cy="642541"/>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14171C"/>
                </a:solidFill>
                <a:latin typeface="IBM Plex Sans" pitchFamily="34" charset="0"/>
                <a:ea typeface="IBM Plex Sans" pitchFamily="34" charset="-122"/>
                <a:cs typeface="IBM Plex Sans" pitchFamily="34" charset="-120"/>
              </a:rPr>
              <a:t>Automated tests for the financial calculations are my next priority, because a courier's income depends on every number being right.</a:t>
            </a:r>
            <a:endParaRPr lang="en-US" sz="1800" dirty="0"/>
          </a:p>
        </p:txBody>
      </p:sp>
      <p:sp>
        <p:nvSpPr>
          <p:cNvPr id="8" name="Text 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3208"/>
                </a:solidFill>
                <a:latin typeface="IBM Plex Sans" pitchFamily="34" charset="0"/>
                <a:ea typeface="IBM Plex Sans" pitchFamily="34" charset="-122"/>
                <a:cs typeface="IBM Plex Sans" pitchFamily="34" charset="-120"/>
              </a:rPr>
              <a:t>Plataforma de Gestión Financiera · Avance Fase 2</a:t>
            </a:r>
            <a:endParaRPr lang="en-US" sz="1200" dirty="0"/>
          </a:p>
        </p:txBody>
      </p:sp>
      <p:sp>
        <p:nvSpPr>
          <p:cNvPr id="9" name="Text 7"/>
          <p:cNvSpPr/>
          <p:nvPr/>
        </p:nvSpPr>
        <p:spPr>
          <a:xfrm>
            <a:off x="9804400" y="6238280"/>
            <a:ext cx="1574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3208"/>
                </a:solidFill>
                <a:latin typeface="IBM Plex Sans" pitchFamily="34" charset="0"/>
                <a:ea typeface="IBM Plex Sans" pitchFamily="34" charset="-122"/>
                <a:cs typeface="IBM Plex Sans" pitchFamily="34" charset="-120"/>
              </a:rPr>
              <a:t>15 / 16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71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5A524"/>
                </a:solidFill>
                <a:latin typeface="IBM Plex Sans" pitchFamily="34" charset="0"/>
                <a:ea typeface="IBM Plex Sans" pitchFamily="34" charset="-122"/>
                <a:cs typeface="IBM Plex Sans" pitchFamily="34" charset="-120"/>
              </a:rPr>
              <a:t>CIERRE</a:t>
            </a:r>
            <a:endParaRPr lang="en-US" sz="1200" dirty="0"/>
          </a:p>
        </p:txBody>
      </p:sp>
      <p:sp>
        <p:nvSpPr>
          <p:cNvPr id="3" name="Shape 1"/>
          <p:cNvSpPr/>
          <p:nvPr/>
        </p:nvSpPr>
        <p:spPr>
          <a:xfrm>
            <a:off x="812800" y="1026120"/>
            <a:ext cx="1016000" cy="50800"/>
          </a:xfrm>
          <a:prstGeom prst="rect">
            <a:avLst/>
          </a:prstGeom>
          <a:solidFill>
            <a:srgbClr val="F5A524"/>
          </a:solidFill>
          <a:ln/>
        </p:spPr>
      </p:sp>
      <p:sp>
        <p:nvSpPr>
          <p:cNvPr id="4" name="Text 2"/>
          <p:cNvSpPr>
            <a:spLocks noGrp="1"/>
          </p:cNvSpPr>
          <p:nvPr>
            <p:ph type="title"/>
          </p:nvPr>
        </p:nvSpPr>
        <p:spPr>
          <a:xfrm>
            <a:off x="812800" y="1280120"/>
            <a:ext cx="10883392" cy="640060"/>
          </a:xfrm>
          <a:prstGeom prst="rect">
            <a:avLst/>
          </a:prstGeom>
          <a:noFill/>
          <a:ln/>
        </p:spPr>
        <p:txBody>
          <a:bodyPr wrap="square" lIns="0" tIns="0" rIns="0" bIns="0" rtlCol="0" anchor="t">
            <a:normAutofit/>
          </a:bodyPr>
          <a:lstStyle/>
          <a:p>
            <a:pPr marL="0" indent="0" algn="l">
              <a:lnSpc>
                <a:spcPts val="4840"/>
              </a:lnSpc>
              <a:buNone/>
            </a:pPr>
            <a:r>
              <a:rPr lang="en-US" sz="4400" b="1" i="0" dirty="0">
                <a:solidFill>
                  <a:srgbClr val="EDE9E0"/>
                </a:solidFill>
                <a:latin typeface="Oswald" pitchFamily="34" charset="0"/>
                <a:ea typeface="Oswald" pitchFamily="34" charset="-122"/>
                <a:cs typeface="Oswald" pitchFamily="34" charset="-120"/>
              </a:rPr>
              <a:t>Preguntas</a:t>
            </a:r>
            <a:endParaRPr lang="en-US" sz="4400" dirty="0"/>
          </a:p>
        </p:txBody>
      </p:sp>
      <p:sp>
        <p:nvSpPr>
          <p:cNvPr id="5" name="Shape 3"/>
          <p:cNvSpPr/>
          <p:nvPr/>
        </p:nvSpPr>
        <p:spPr>
          <a:xfrm>
            <a:off x="815975" y="5004594"/>
            <a:ext cx="3380284" cy="1240631"/>
          </a:xfrm>
          <a:prstGeom prst="roundRect">
            <a:avLst>
              <a:gd name="adj" fmla="val 7933"/>
            </a:avLst>
          </a:prstGeom>
          <a:solidFill>
            <a:srgbClr val="1E242C"/>
          </a:solidFill>
          <a:ln w="6350">
            <a:solidFill>
              <a:srgbClr val="2C333D"/>
            </a:solidFill>
            <a:prstDash val="solid"/>
          </a:ln>
        </p:spPr>
      </p:sp>
      <p:sp>
        <p:nvSpPr>
          <p:cNvPr id="6" name="Text 4"/>
          <p:cNvSpPr/>
          <p:nvPr/>
        </p:nvSpPr>
        <p:spPr>
          <a:xfrm>
            <a:off x="1022350" y="5210969"/>
            <a:ext cx="305656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A524"/>
                </a:solidFill>
                <a:latin typeface="IBM Plex Sans" pitchFamily="34" charset="0"/>
                <a:ea typeface="IBM Plex Sans" pitchFamily="34" charset="-122"/>
                <a:cs typeface="IBM Plex Sans" pitchFamily="34" charset="-120"/>
              </a:rPr>
              <a:t>REPOSITORIO</a:t>
            </a:r>
            <a:endParaRPr lang="en-US" sz="1200" dirty="0"/>
          </a:p>
        </p:txBody>
      </p:sp>
      <p:sp>
        <p:nvSpPr>
          <p:cNvPr id="7" name="Text 5"/>
          <p:cNvSpPr/>
          <p:nvPr/>
        </p:nvSpPr>
        <p:spPr>
          <a:xfrm>
            <a:off x="1022350" y="5500489"/>
            <a:ext cx="3056560"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DE9E0"/>
                </a:solidFill>
                <a:latin typeface="IBM Plex Sans" pitchFamily="34" charset="0"/>
                <a:ea typeface="IBM Plex Sans" pitchFamily="34" charset="-122"/>
                <a:cs typeface="IBM Plex Sans" pitchFamily="34" charset="-120"/>
              </a:rPr>
              <a:t>github.com/albertp07/plataforma-repartidores</a:t>
            </a:r>
            <a:endParaRPr lang="en-US" sz="1200" dirty="0"/>
          </a:p>
        </p:txBody>
      </p:sp>
      <p:sp>
        <p:nvSpPr>
          <p:cNvPr id="8" name="Shape 6"/>
          <p:cNvSpPr/>
          <p:nvPr/>
        </p:nvSpPr>
        <p:spPr>
          <a:xfrm>
            <a:off x="4405809" y="5004594"/>
            <a:ext cx="3380284" cy="1240631"/>
          </a:xfrm>
          <a:prstGeom prst="roundRect">
            <a:avLst>
              <a:gd name="adj" fmla="val 7933"/>
            </a:avLst>
          </a:prstGeom>
          <a:solidFill>
            <a:srgbClr val="1E242C"/>
          </a:solidFill>
          <a:ln w="6350">
            <a:solidFill>
              <a:srgbClr val="2C333D"/>
            </a:solidFill>
            <a:prstDash val="solid"/>
          </a:ln>
        </p:spPr>
      </p:sp>
      <p:sp>
        <p:nvSpPr>
          <p:cNvPr id="9" name="Text 7"/>
          <p:cNvSpPr/>
          <p:nvPr/>
        </p:nvSpPr>
        <p:spPr>
          <a:xfrm>
            <a:off x="4612184" y="5210969"/>
            <a:ext cx="305656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A524"/>
                </a:solidFill>
                <a:latin typeface="IBM Plex Sans" pitchFamily="34" charset="0"/>
                <a:ea typeface="IBM Plex Sans" pitchFamily="34" charset="-122"/>
                <a:cs typeface="IBM Plex Sans" pitchFamily="34" charset="-120"/>
              </a:rPr>
              <a:t>INTEGRANTE</a:t>
            </a:r>
            <a:endParaRPr lang="en-US" sz="1200" dirty="0"/>
          </a:p>
        </p:txBody>
      </p:sp>
      <p:sp>
        <p:nvSpPr>
          <p:cNvPr id="10" name="Text 8"/>
          <p:cNvSpPr/>
          <p:nvPr/>
        </p:nvSpPr>
        <p:spPr>
          <a:xfrm>
            <a:off x="4612184" y="5500489"/>
            <a:ext cx="305656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DE9E0"/>
                </a:solidFill>
                <a:latin typeface="IBM Plex Sans" pitchFamily="34" charset="0"/>
                <a:ea typeface="IBM Plex Sans" pitchFamily="34" charset="-122"/>
                <a:cs typeface="IBM Plex Sans" pitchFamily="34" charset="-120"/>
              </a:rPr>
              <a:t>Albert Peña</a:t>
            </a:r>
            <a:endParaRPr lang="en-US" sz="1400" dirty="0"/>
          </a:p>
        </p:txBody>
      </p:sp>
      <p:sp>
        <p:nvSpPr>
          <p:cNvPr id="11" name="Text 9"/>
          <p:cNvSpPr/>
          <p:nvPr/>
        </p:nvSpPr>
        <p:spPr>
          <a:xfrm>
            <a:off x="4612184" y="5825530"/>
            <a:ext cx="30565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Contacto: albe.pena@duocuc.cl</a:t>
            </a:r>
            <a:endParaRPr lang="en-US" sz="1200" dirty="0"/>
          </a:p>
        </p:txBody>
      </p:sp>
      <p:sp>
        <p:nvSpPr>
          <p:cNvPr id="12" name="Shape 10"/>
          <p:cNvSpPr/>
          <p:nvPr/>
        </p:nvSpPr>
        <p:spPr>
          <a:xfrm>
            <a:off x="7995642" y="5004594"/>
            <a:ext cx="3380284" cy="1240631"/>
          </a:xfrm>
          <a:prstGeom prst="roundRect">
            <a:avLst>
              <a:gd name="adj" fmla="val 7933"/>
            </a:avLst>
          </a:prstGeom>
          <a:solidFill>
            <a:srgbClr val="1E242C"/>
          </a:solidFill>
          <a:ln w="6350">
            <a:solidFill>
              <a:srgbClr val="2C333D"/>
            </a:solidFill>
            <a:prstDash val="solid"/>
          </a:ln>
        </p:spPr>
      </p:sp>
      <p:sp>
        <p:nvSpPr>
          <p:cNvPr id="13" name="Text 11"/>
          <p:cNvSpPr/>
          <p:nvPr/>
        </p:nvSpPr>
        <p:spPr>
          <a:xfrm>
            <a:off x="8202017" y="5210969"/>
            <a:ext cx="305656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A524"/>
                </a:solidFill>
                <a:latin typeface="IBM Plex Sans" pitchFamily="34" charset="0"/>
                <a:ea typeface="IBM Plex Sans" pitchFamily="34" charset="-122"/>
                <a:cs typeface="IBM Plex Sans" pitchFamily="34" charset="-120"/>
              </a:rPr>
              <a:t>DOCENTE Y SECCIÓN</a:t>
            </a:r>
            <a:endParaRPr lang="en-US" sz="1200" dirty="0"/>
          </a:p>
        </p:txBody>
      </p:sp>
      <p:sp>
        <p:nvSpPr>
          <p:cNvPr id="14" name="Text 12"/>
          <p:cNvSpPr/>
          <p:nvPr/>
        </p:nvSpPr>
        <p:spPr>
          <a:xfrm>
            <a:off x="8202017" y="5500489"/>
            <a:ext cx="305656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DE9E0"/>
                </a:solidFill>
                <a:latin typeface="IBM Plex Sans" pitchFamily="34" charset="0"/>
                <a:ea typeface="IBM Plex Sans" pitchFamily="34" charset="-122"/>
                <a:cs typeface="IBM Plex Sans" pitchFamily="34" charset="-120"/>
              </a:rPr>
              <a:t>Claudia Reinoso</a:t>
            </a:r>
            <a:endParaRPr lang="en-US" sz="1400" dirty="0"/>
          </a:p>
        </p:txBody>
      </p:sp>
      <p:sp>
        <p:nvSpPr>
          <p:cNvPr id="15" name="Text 13"/>
          <p:cNvSpPr/>
          <p:nvPr/>
        </p:nvSpPr>
        <p:spPr>
          <a:xfrm>
            <a:off x="8202017" y="5825530"/>
            <a:ext cx="30565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CB8"/>
                </a:solidFill>
                <a:latin typeface="IBM Plex Sans" pitchFamily="34" charset="0"/>
                <a:ea typeface="IBM Plex Sans" pitchFamily="34" charset="-122"/>
                <a:cs typeface="IBM Plex Sans" pitchFamily="34" charset="-120"/>
              </a:rPr>
              <a:t>CAPSTONE_300D</a:t>
            </a:r>
            <a:endParaRPr lang="en-US" sz="1200" dirty="0"/>
          </a:p>
        </p:txBody>
      </p:sp>
    </p:spTree>
  </p:cSld>
  <p:clrMapOvr>
    <a:masterClrMapping/>
  </p:clrMapOvr>
</p:sld>
</file>

<file path=ppt/theme/theme1.xml><?xml version="1.0" encoding="utf-8"?>
<a:theme xmlns:a="http://schemas.openxmlformats.org/drawingml/2006/main" name="Avance Fase 2 - Plataforma Repartidores">
  <a:themeElements>
    <a:clrScheme name="Avance Fase 2 - Plataforma Repartidores">
      <a:dk1>
        <a:srgbClr val="14171C"/>
      </a:dk1>
      <a:lt1>
        <a:srgbClr val="EDE9E0"/>
      </a:lt1>
      <a:dk2>
        <a:srgbClr val="2A2C30"/>
      </a:dk2>
      <a:lt2>
        <a:srgbClr val="B7B5AF"/>
      </a:lt2>
      <a:accent1>
        <a:srgbClr val="F5A524"/>
      </a:accent1>
      <a:accent2>
        <a:srgbClr val="6EA8F0"/>
      </a:accent2>
      <a:accent3>
        <a:srgbClr val="4A3208"/>
      </a:accent3>
      <a:accent4>
        <a:srgbClr val="A3ACB8"/>
      </a:accent4>
      <a:accent5>
        <a:srgbClr val="9AA0A6"/>
      </a:accent5>
      <a:accent6>
        <a:srgbClr val="969592"/>
      </a:accent6>
      <a:hlink>
        <a:srgbClr val="0563C1"/>
      </a:hlink>
      <a:folHlink>
        <a:srgbClr val="954F72"/>
      </a:folHlink>
    </a:clrScheme>
    <a:fontScheme name="Avance Fase 2 - Plataforma Repartidores">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2845</Words>
  <Application>Microsoft Office PowerPoint</Application>
  <PresentationFormat>Panorámica</PresentationFormat>
  <Paragraphs>353</Paragraphs>
  <Slides>16</Slides>
  <Notes>16</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Arial</vt:lpstr>
      <vt:lpstr>Calibri</vt:lpstr>
      <vt:lpstr>IBM Plex Sans</vt:lpstr>
      <vt:lpstr>Oswald</vt:lpstr>
      <vt:lpstr>Avance Fase 2 - Plataforma Repartidores</vt:lpstr>
      <vt:lpstr>Plataforma web de gestión financiera y control operativo para repartidores de última milla</vt:lpstr>
      <vt:lpstr>Abstract</vt:lpstr>
      <vt:lpstr>Recordatorio del proyecto</vt:lpstr>
      <vt:lpstr>Retroalimentación recibida y ajustes</vt:lpstr>
      <vt:lpstr>Cascada: plan contra avance real</vt:lpstr>
      <vt:lpstr>6 de 8 actividades completadas, ninguna con retraso</vt:lpstr>
      <vt:lpstr>Arquitectura actual</vt:lpstr>
      <vt:lpstr>Modelo de datos implementado</vt:lpstr>
      <vt:lpstr>Funcionalidades desarrolladas</vt:lpstr>
      <vt:lpstr>Documentación producida</vt:lpstr>
      <vt:lpstr>Calidad y estándares</vt:lpstr>
      <vt:lpstr>Repositorio Git</vt:lpstr>
      <vt:lpstr>Aporte por integrante</vt:lpstr>
      <vt:lpstr>Riesgos y plan al informe final</vt:lpstr>
      <vt:lpstr>Individual conclusions</vt:lpstr>
      <vt:lpstr>Preguntas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Avance Fase 2 - Plataforma Repartidores</dc:title>
  <dc:subject/>
  <dc:creator/>
  <cp:lastModifiedBy>Albert Peña</cp:lastModifiedBy>
  <cp:revision>2</cp:revision>
  <dcterms:created xsi:type="dcterms:W3CDTF">2026-10-14T14:11:14Z</dcterms:created>
  <dcterms:modified xsi:type="dcterms:W3CDTF">2026-10-14T14:36:04Z</dcterms:modified>
</cp:coreProperties>
</file>